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595959"/>
                </a:solidFill>
                <a:latin typeface="Microsoft YaHei"/>
                <a:ea typeface="Microsoft YaHei"/>
              </a:rPr>
              <a:t>项目阶段汇报 · Phase Report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920240"/>
            <a:ext cx="11094415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4000" b="1">
                <a:solidFill>
                  <a:srgbClr val="000000"/>
                </a:solidFill>
                <a:latin typeface="Microsoft YaHei"/>
                <a:ea typeface="Microsoft YaHei"/>
              </a:rPr>
              <a:t>双层仓储异构机器人协作运输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4000" b="1">
                <a:solidFill>
                  <a:srgbClr val="000000"/>
                </a:solidFill>
                <a:latin typeface="Microsoft YaHei"/>
                <a:ea typeface="Microsoft YaHei"/>
              </a:rPr>
              <a:t>项目进展与问题汇报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566160"/>
            <a:ext cx="110944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1F1F1F"/>
                </a:solidFill>
                <a:latin typeface="Microsoft YaHei"/>
                <a:ea typeface="Microsoft YaHei"/>
              </a:rPr>
              <a:t>Carter + Go2 + SCAN-Planner + 事件驱动 SMDP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343400"/>
            <a:ext cx="110944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595959"/>
                </a:solidFill>
                <a:latin typeface="Microsoft YaHei"/>
                <a:ea typeface="Microsoft YaHei"/>
              </a:rPr>
              <a:t>汇报日期：2026 年 8 月 6 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66847" y="5120640"/>
            <a:ext cx="2103120" cy="384048"/>
          </a:xfrm>
          <a:prstGeom prst="round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36576" bIns="36576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阶段 11 · 已验收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44287" y="5120640"/>
            <a:ext cx="2103120" cy="384048"/>
          </a:xfrm>
          <a:prstGeom prst="round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36576" bIns="36576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等待性能 · 待优化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21727" y="5120640"/>
            <a:ext cx="2103120" cy="384048"/>
          </a:xfrm>
          <a:prstGeom prst="round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36576" bIns="36576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阶段 12 · 下一步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57200"/>
            <a:ext cx="146304" cy="47548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9536" y="384048"/>
            <a:ext cx="914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595959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73936" y="384048"/>
            <a:ext cx="986911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600" b="1">
                <a:solidFill>
                  <a:srgbClr val="000000"/>
                </a:solidFill>
                <a:latin typeface="Microsoft YaHei"/>
                <a:ea typeface="Microsoft YaHei"/>
              </a:rPr>
              <a:t>项目目标与场景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73936" y="896112"/>
            <a:ext cx="986911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595959"/>
                </a:solidFill>
                <a:latin typeface="Microsoft YaHei"/>
                <a:ea typeface="Microsoft YaHei"/>
              </a:rPr>
              <a:t>双层仓储环境 · 异构机器人 · 同层与跨楼层运输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280160"/>
            <a:ext cx="11094415" cy="2794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905695" y="457200"/>
            <a:ext cx="1737360" cy="292608"/>
          </a:xfrm>
          <a:prstGeom prst="round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36576" bIns="36576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</a:rPr>
              <a:t>场景目标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234440"/>
            <a:ext cx="11094415" cy="960120"/>
          </a:xfrm>
          <a:prstGeom prst="rect">
            <a:avLst/>
          </a:prstGeom>
          <a:solidFill>
            <a:srgbClr val="F2F2F2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36576" bIns="36576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600" b="1">
                <a:solidFill>
                  <a:srgbClr val="000000"/>
                </a:solidFill>
                <a:latin typeface="Microsoft YaHei"/>
                <a:ea typeface="Microsoft YaHei"/>
              </a:rPr>
              <a:t>目标：</a:t>
            </a:r>
            <a:r>
              <a:rPr sz="1600" b="0">
                <a:solidFill>
                  <a:srgbClr val="000000"/>
                </a:solidFill>
                <a:latin typeface="Microsoft YaHei"/>
                <a:ea typeface="Microsoft YaHei"/>
              </a:rPr>
              <a:t>完成同层与跨楼层货物运输，并为强化学习调度建立统一、可学习的环境。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46888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00000"/>
                </a:solidFill>
                <a:latin typeface="Microsoft YaHei"/>
                <a:ea typeface="Microsoft YaHei"/>
              </a:rPr>
              <a:t>系统组成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880360"/>
            <a:ext cx="2743200" cy="2540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3063240"/>
            <a:ext cx="5394960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400" b="1">
                <a:solidFill>
                  <a:srgbClr val="595959"/>
                </a:solidFill>
                <a:latin typeface="Microsoft YaHei"/>
                <a:ea typeface="Microsoft YaHei"/>
              </a:rPr>
              <a:t>• </a:t>
            </a:r>
            <a:r>
              <a:rPr sz="1400" b="0">
                <a:solidFill>
                  <a:srgbClr val="000000"/>
                </a:solidFill>
                <a:latin typeface="Microsoft YaHei"/>
                <a:ea typeface="Microsoft YaHei"/>
              </a:rPr>
              <a:t>2 辆 Carter 轮式小车（一楼 / 二楼各一辆）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400" b="1">
                <a:solidFill>
                  <a:srgbClr val="595959"/>
                </a:solidFill>
                <a:latin typeface="Microsoft YaHei"/>
                <a:ea typeface="Microsoft YaHei"/>
              </a:rPr>
              <a:t>• </a:t>
            </a:r>
            <a:r>
              <a:rPr sz="1400" b="0">
                <a:solidFill>
                  <a:srgbClr val="000000"/>
                </a:solidFill>
                <a:latin typeface="Microsoft YaHei"/>
                <a:ea typeface="Microsoft YaHei"/>
              </a:rPr>
              <a:t>4 只 Go2 四足机器人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400" b="1">
                <a:solidFill>
                  <a:srgbClr val="595959"/>
                </a:solidFill>
                <a:latin typeface="Microsoft YaHei"/>
                <a:ea typeface="Microsoft YaHei"/>
              </a:rPr>
              <a:t>• </a:t>
            </a:r>
            <a:r>
              <a:rPr sz="1400" b="0">
                <a:solidFill>
                  <a:srgbClr val="000000"/>
                </a:solidFill>
                <a:latin typeface="Microsoft YaHei"/>
                <a:ea typeface="Microsoft YaHei"/>
              </a:rPr>
              <a:t>4 条跨楼层楼梯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400" b="1">
                <a:solidFill>
                  <a:srgbClr val="595959"/>
                </a:solidFill>
                <a:latin typeface="Microsoft YaHei"/>
                <a:ea typeface="Microsoft YaHei"/>
              </a:rPr>
              <a:t>• </a:t>
            </a:r>
            <a:r>
              <a:rPr sz="1400" b="0">
                <a:solidFill>
                  <a:srgbClr val="000000"/>
                </a:solidFill>
                <a:latin typeface="Microsoft YaHei"/>
                <a:ea typeface="Microsoft YaHei"/>
              </a:rPr>
              <a:t>装卸货平台、交接点、待命泊位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46888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00000"/>
                </a:solidFill>
                <a:latin typeface="Microsoft YaHei"/>
                <a:ea typeface="Microsoft YaHei"/>
              </a:rPr>
              <a:t>统一技术路线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2880360"/>
            <a:ext cx="4114800" cy="2540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3063240"/>
            <a:ext cx="5212080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350" b="1">
                <a:solidFill>
                  <a:srgbClr val="595959"/>
                </a:solidFill>
                <a:latin typeface="Microsoft YaHei"/>
                <a:ea typeface="Microsoft YaHei"/>
              </a:rPr>
              <a:t>• </a:t>
            </a:r>
            <a:r>
              <a:rPr sz="1350" b="0">
                <a:solidFill>
                  <a:srgbClr val="000000"/>
                </a:solidFill>
                <a:latin typeface="Microsoft YaHei"/>
                <a:ea typeface="Microsoft YaHei"/>
              </a:rPr>
              <a:t>Carter 与 Go2 均使用 SCAN-Planner 执行路径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350" b="1">
                <a:solidFill>
                  <a:srgbClr val="595959"/>
                </a:solidFill>
                <a:latin typeface="Microsoft YaHei"/>
                <a:ea typeface="Microsoft YaHei"/>
              </a:rPr>
              <a:t>• </a:t>
            </a:r>
            <a:r>
              <a:rPr sz="1350" b="0">
                <a:solidFill>
                  <a:srgbClr val="000000"/>
                </a:solidFill>
                <a:latin typeface="Microsoft YaHei"/>
                <a:ea typeface="Microsoft YaHei"/>
              </a:rPr>
              <a:t>高层调度器只选任务 / 机器人 / 楼梯 / 任务后策略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350" b="1">
                <a:solidFill>
                  <a:srgbClr val="595959"/>
                </a:solidFill>
                <a:latin typeface="Microsoft YaHei"/>
                <a:ea typeface="Microsoft YaHei"/>
              </a:rPr>
              <a:t>• </a:t>
            </a:r>
            <a:r>
              <a:rPr sz="1350" b="0">
                <a:solidFill>
                  <a:srgbClr val="000000"/>
                </a:solidFill>
                <a:latin typeface="Microsoft YaHei"/>
                <a:ea typeface="Microsoft YaHei"/>
              </a:rPr>
              <a:t>使用既定确定性路线，不加入随机扰动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350" b="1">
                <a:solidFill>
                  <a:srgbClr val="595959"/>
                </a:solidFill>
                <a:latin typeface="Microsoft YaHei"/>
                <a:ea typeface="Microsoft YaHei"/>
              </a:rPr>
              <a:t>• </a:t>
            </a:r>
            <a:r>
              <a:rPr sz="1350" b="0">
                <a:solidFill>
                  <a:srgbClr val="000000"/>
                </a:solidFill>
                <a:latin typeface="Microsoft YaHei"/>
                <a:ea typeface="Microsoft YaHei"/>
              </a:rPr>
              <a:t>RViz 做功能和路线验收，Gazebo 收尾阶段统一优化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350" b="1">
                <a:solidFill>
                  <a:srgbClr val="595959"/>
                </a:solidFill>
                <a:latin typeface="Microsoft YaHei"/>
                <a:ea typeface="Microsoft YaHei"/>
              </a:rPr>
              <a:t>• </a:t>
            </a:r>
            <a:r>
              <a:rPr sz="1350" b="0">
                <a:solidFill>
                  <a:srgbClr val="000000"/>
                </a:solidFill>
                <a:latin typeface="Microsoft YaHei"/>
                <a:ea typeface="Microsoft YaHei"/>
              </a:rPr>
              <a:t>任务之间不整体复位，状态跨任务保留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595959"/>
                </a:solidFill>
                <a:latin typeface="Microsoft YaHei"/>
                <a:ea typeface="Microsoft YaHei"/>
              </a:rPr>
              <a:t>双层仓储异构机器人协作运输 · 2026-08-06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1">
                <a:solidFill>
                  <a:srgbClr val="595959"/>
                </a:solidFill>
                <a:latin typeface="Microsoft YaHei"/>
                <a:ea typeface="Microsoft YaHei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57200"/>
            <a:ext cx="146304" cy="47548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9536" y="384048"/>
            <a:ext cx="914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595959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73936" y="384048"/>
            <a:ext cx="986911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600" b="1">
                <a:solidFill>
                  <a:srgbClr val="000000"/>
                </a:solidFill>
                <a:latin typeface="Microsoft YaHei"/>
                <a:ea typeface="Microsoft YaHei"/>
              </a:rPr>
              <a:t>完整跨楼层任务链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73936" y="896112"/>
            <a:ext cx="986911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595959"/>
                </a:solidFill>
                <a:latin typeface="Microsoft YaHei"/>
                <a:ea typeface="Microsoft YaHei"/>
              </a:rPr>
              <a:t>六步水平流程 · 橙色方块表示货物所有权在三种载体之间切换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280160"/>
            <a:ext cx="11094415" cy="2794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2011680"/>
            <a:ext cx="1711909" cy="1920240"/>
          </a:xfrm>
          <a:prstGeom prst="rect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36576" bIns="36576"/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150" b="0">
                <a:solidFill>
                  <a:srgbClr val="1F1F1F"/>
                </a:solidFill>
                <a:latin typeface="Microsoft YaHei"/>
                <a:ea typeface="Microsoft YaHei"/>
              </a:rPr>
              <a:t>起点 Carter
前往装货平台取货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011680"/>
            <a:ext cx="1711909" cy="4572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36576" bIns="36576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</a:rPr>
              <a:t>1 一楼取货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76578" y="4133088"/>
            <a:ext cx="256032" cy="256032"/>
          </a:xfrm>
          <a:prstGeom prst="rect">
            <a:avLst/>
          </a:prstGeom>
          <a:solidFill>
            <a:srgbClr val="E86A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4434840"/>
            <a:ext cx="189478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000000"/>
                </a:solidFill>
                <a:latin typeface="Microsoft YaHei"/>
                <a:ea typeface="Microsoft YaHei"/>
              </a:rPr>
              <a:t>Carter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2278837" y="2807208"/>
            <a:ext cx="128016" cy="329184"/>
          </a:xfrm>
          <a:prstGeom prst="rightArrow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425141" y="2011680"/>
            <a:ext cx="1711909" cy="1920240"/>
          </a:xfrm>
          <a:prstGeom prst="rect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36576" bIns="36576"/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150" b="0">
                <a:solidFill>
                  <a:srgbClr val="1F1F1F"/>
                </a:solidFill>
                <a:latin typeface="Microsoft YaHei"/>
                <a:ea typeface="Microsoft YaHei"/>
              </a:rPr>
              <a:t>运送到所选楼梯
发送交接点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425141" y="2011680"/>
            <a:ext cx="1711909" cy="4572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36576" bIns="36576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</a:rPr>
              <a:t>2 Carter 运送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153079" y="4133088"/>
            <a:ext cx="256032" cy="256032"/>
          </a:xfrm>
          <a:prstGeom prst="rect">
            <a:avLst/>
          </a:prstGeom>
          <a:solidFill>
            <a:srgbClr val="E86A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333701" y="4434840"/>
            <a:ext cx="189478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000000"/>
                </a:solidFill>
                <a:latin typeface="Microsoft YaHei"/>
                <a:ea typeface="Microsoft YaHei"/>
              </a:rPr>
              <a:t>Carter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4155338" y="2807208"/>
            <a:ext cx="128016" cy="329184"/>
          </a:xfrm>
          <a:prstGeom prst="rightArrow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01642" y="2011680"/>
            <a:ext cx="1711909" cy="1920240"/>
          </a:xfrm>
          <a:prstGeom prst="rect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36576" bIns="36576"/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150" b="0">
                <a:solidFill>
                  <a:srgbClr val="1F1F1F"/>
                </a:solidFill>
                <a:latin typeface="Microsoft YaHei"/>
                <a:ea typeface="Microsoft YaHei"/>
              </a:rPr>
              <a:t>货物切换并吸附
Go2 携货通过楼梯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01642" y="2011680"/>
            <a:ext cx="1711909" cy="4572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36576" bIns="36576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</a:rPr>
              <a:t>3 Go2 交接上楼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580" y="4133088"/>
            <a:ext cx="256032" cy="256032"/>
          </a:xfrm>
          <a:prstGeom prst="rect">
            <a:avLst/>
          </a:prstGeom>
          <a:solidFill>
            <a:srgbClr val="E86A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10202" y="4434840"/>
            <a:ext cx="189478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000000"/>
                </a:solidFill>
                <a:latin typeface="Microsoft YaHei"/>
                <a:ea typeface="Microsoft YaHei"/>
              </a:rPr>
              <a:t>Go2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6031839" y="2807208"/>
            <a:ext cx="128016" cy="329184"/>
          </a:xfrm>
          <a:prstGeom prst="rightArrow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78143" y="2011680"/>
            <a:ext cx="1711909" cy="1920240"/>
          </a:xfrm>
          <a:prstGeom prst="rect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36576" bIns="36576"/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150" b="0">
                <a:solidFill>
                  <a:srgbClr val="1F1F1F"/>
                </a:solidFill>
                <a:latin typeface="Microsoft YaHei"/>
                <a:ea typeface="Microsoft YaHei"/>
              </a:rPr>
              <a:t>Go2 走出楼梯口
与二楼 Carter 交接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78143" y="2011680"/>
            <a:ext cx="1711909" cy="4572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36576" bIns="36576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</a:rPr>
              <a:t>4 二楼交接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906082" y="4133088"/>
            <a:ext cx="256032" cy="256032"/>
          </a:xfrm>
          <a:prstGeom prst="rect">
            <a:avLst/>
          </a:prstGeom>
          <a:solidFill>
            <a:srgbClr val="E86A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086703" y="4434840"/>
            <a:ext cx="189478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000000"/>
                </a:solidFill>
                <a:latin typeface="Microsoft YaHei"/>
                <a:ea typeface="Microsoft YaHei"/>
              </a:rPr>
              <a:t>Carter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7908340" y="2807208"/>
            <a:ext cx="128016" cy="329184"/>
          </a:xfrm>
          <a:prstGeom prst="rightArrow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54644" y="2011680"/>
            <a:ext cx="1711909" cy="1920240"/>
          </a:xfrm>
          <a:prstGeom prst="rect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36576" bIns="36576"/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150" b="0">
                <a:solidFill>
                  <a:srgbClr val="1F1F1F"/>
                </a:solidFill>
                <a:latin typeface="Microsoft YaHei"/>
                <a:ea typeface="Microsoft YaHei"/>
              </a:rPr>
              <a:t>送至目标平台
并卸货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54644" y="2011680"/>
            <a:ext cx="1711909" cy="4572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36576" bIns="36576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</a:rPr>
              <a:t>5 Carter 送货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782583" y="4133088"/>
            <a:ext cx="256032" cy="256032"/>
          </a:xfrm>
          <a:prstGeom prst="rect">
            <a:avLst/>
          </a:prstGeom>
          <a:solidFill>
            <a:srgbClr val="E86A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63204" y="4434840"/>
            <a:ext cx="189478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000000"/>
                </a:solidFill>
                <a:latin typeface="Microsoft YaHei"/>
                <a:ea typeface="Microsoft YaHei"/>
              </a:rPr>
              <a:t>Carter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9784841" y="2807208"/>
            <a:ext cx="128016" cy="329184"/>
          </a:xfrm>
          <a:prstGeom prst="rightArrow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931145" y="2011680"/>
            <a:ext cx="1711909" cy="1920240"/>
          </a:xfrm>
          <a:prstGeom prst="rect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36576" bIns="36576"/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150" b="0">
                <a:solidFill>
                  <a:srgbClr val="1F1F1F"/>
                </a:solidFill>
                <a:latin typeface="Microsoft YaHei"/>
                <a:ea typeface="Microsoft YaHei"/>
              </a:rPr>
              <a:t>进入互不重叠的
空闲待命泊位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931145" y="2011680"/>
            <a:ext cx="1711909" cy="4572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36576" bIns="36576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</a:rPr>
              <a:t>6 泊位待命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659084" y="4133088"/>
            <a:ext cx="256032" cy="256032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839705" y="4434840"/>
            <a:ext cx="189478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000000"/>
                </a:solidFill>
                <a:latin typeface="Microsoft YaHei"/>
                <a:ea typeface="Microsoft YaHei"/>
              </a:rPr>
              <a:t>空闲泊位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5120640"/>
            <a:ext cx="1109441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00000"/>
                </a:solidFill>
                <a:latin typeface="Microsoft YaHei"/>
                <a:ea typeface="Microsoft YaHei"/>
              </a:rPr>
              <a:t>橙色方块 = 货物；</a:t>
            </a:r>
            <a:r>
              <a:rPr sz="1300" b="0">
                <a:solidFill>
                  <a:srgbClr val="000000"/>
                </a:solidFill>
                <a:latin typeface="Microsoft YaHei"/>
                <a:ea typeface="Microsoft YaHei"/>
              </a:rPr>
              <a:t>载体依次为：Carter → Go2 → Carter → 空闲泊位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595959"/>
                </a:solidFill>
                <a:latin typeface="Microsoft YaHei"/>
                <a:ea typeface="Microsoft YaHei"/>
              </a:rPr>
              <a:t>注：货物采用可视化方块与逻辑吸附，不模拟重力，交接时允许瞬时转移；Go2 在楼梯口少量距离后交货。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595959"/>
                </a:solidFill>
                <a:latin typeface="Microsoft YaHei"/>
                <a:ea typeface="Microsoft YaHei"/>
              </a:rPr>
              <a:t>双层仓储异构机器人协作运输 · 2026-08-06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1">
                <a:solidFill>
                  <a:srgbClr val="595959"/>
                </a:solidFill>
                <a:latin typeface="Microsoft YaHei"/>
                <a:ea typeface="Microsoft YaHei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57200"/>
            <a:ext cx="146304" cy="47548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9536" y="384048"/>
            <a:ext cx="914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595959"/>
                </a:solidFill>
                <a:latin typeface="Microsoft YaHei"/>
                <a:ea typeface="Microsoft YaHei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73936" y="384048"/>
            <a:ext cx="986911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600" b="1">
                <a:solidFill>
                  <a:srgbClr val="000000"/>
                </a:solidFill>
                <a:latin typeface="Microsoft YaHei"/>
                <a:ea typeface="Microsoft YaHei"/>
              </a:rPr>
              <a:t>当前系统架构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73936" y="896112"/>
            <a:ext cx="986911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595959"/>
                </a:solidFill>
                <a:latin typeface="Microsoft YaHei"/>
                <a:ea typeface="Microsoft YaHei"/>
              </a:rPr>
              <a:t>分层架构 · 高层策略不直接输出速度 / 关节 / 步态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280160"/>
            <a:ext cx="11094415" cy="2794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371600"/>
            <a:ext cx="3383280" cy="117043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36576" bIns="36576"/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高层 · 事件驱动调度器 / SMDP</a:t>
            </a:r>
          </a:p>
        </p:txBody>
      </p:sp>
      <p:sp>
        <p:nvSpPr>
          <p:cNvPr id="9" name="Rectangle 8"/>
          <p:cNvSpPr/>
          <p:nvPr/>
        </p:nvSpPr>
        <p:spPr>
          <a:xfrm>
            <a:off x="4069080" y="1371600"/>
            <a:ext cx="7573975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36576" bIns="36576"/>
          <a:lstStyle/>
          <a:p>
            <a:pPr algn="ctr">
              <a:lnSpc>
                <a:spcPct val="115000"/>
              </a:lnSpc>
              <a:spcAft>
                <a:spcPts val="300"/>
              </a:spcAft>
            </a:pPr>
            <a:r>
              <a:rPr sz="1250" b="1">
                <a:solidFill>
                  <a:srgbClr val="595959"/>
                </a:solidFill>
                <a:latin typeface="Microsoft YaHei"/>
                <a:ea typeface="Microsoft YaHei"/>
              </a:rPr>
              <a:t>• </a:t>
            </a:r>
            <a:r>
              <a:rPr sz="1250" b="0">
                <a:solidFill>
                  <a:srgbClr val="000000"/>
                </a:solidFill>
                <a:latin typeface="Microsoft YaHei"/>
                <a:ea typeface="Microsoft YaHei"/>
              </a:rPr>
              <a:t>选择任务、机器人组合、楼梯、任务后策略</a:t>
            </a:r>
          </a:p>
          <a:p>
            <a:pPr algn="ctr">
              <a:lnSpc>
                <a:spcPct val="115000"/>
              </a:lnSpc>
              <a:spcAft>
                <a:spcPts val="300"/>
              </a:spcAft>
            </a:pPr>
            <a:r>
              <a:rPr sz="1250" b="1">
                <a:solidFill>
                  <a:srgbClr val="595959"/>
                </a:solidFill>
                <a:latin typeface="Microsoft YaHei"/>
                <a:ea typeface="Microsoft YaHei"/>
              </a:rPr>
              <a:t>• </a:t>
            </a:r>
            <a:r>
              <a:rPr sz="1250" b="0">
                <a:solidFill>
                  <a:srgbClr val="000000"/>
                </a:solidFill>
                <a:latin typeface="Microsoft YaHei"/>
                <a:ea typeface="Microsoft YaHei"/>
              </a:rPr>
              <a:t>不直接控制速度、关节或步态</a:t>
            </a:r>
          </a:p>
          <a:p>
            <a:pPr algn="ctr">
              <a:lnSpc>
                <a:spcPct val="115000"/>
              </a:lnSpc>
              <a:spcAft>
                <a:spcPts val="300"/>
              </a:spcAft>
            </a:pPr>
            <a:r>
              <a:rPr sz="1250" b="1">
                <a:solidFill>
                  <a:srgbClr val="595959"/>
                </a:solidFill>
                <a:latin typeface="Microsoft YaHei"/>
                <a:ea typeface="Microsoft YaHei"/>
              </a:rPr>
              <a:t>• </a:t>
            </a:r>
            <a:r>
              <a:rPr sz="1250" b="0">
                <a:solidFill>
                  <a:srgbClr val="000000"/>
                </a:solidFill>
                <a:latin typeface="Microsoft YaHei"/>
                <a:ea typeface="Microsoft YaHei"/>
              </a:rPr>
              <a:t>任务异步到达并排队，阶段11按串行执行</a:t>
            </a:r>
          </a:p>
        </p:txBody>
      </p:sp>
      <p:sp>
        <p:nvSpPr>
          <p:cNvPr id="10" name="Down Arrow 9"/>
          <p:cNvSpPr/>
          <p:nvPr/>
        </p:nvSpPr>
        <p:spPr>
          <a:xfrm>
            <a:off x="2011680" y="2555748"/>
            <a:ext cx="457200" cy="100584"/>
          </a:xfrm>
          <a:prstGeom prst="downArrow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2670048"/>
            <a:ext cx="3383280" cy="117043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36576" bIns="36576"/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中层 · 任务 / 货物 / 资源锁 / 交接状态机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069080" y="2670048"/>
            <a:ext cx="7573975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36576" bIns="36576"/>
          <a:lstStyle/>
          <a:p>
            <a:pPr algn="ctr">
              <a:lnSpc>
                <a:spcPct val="115000"/>
              </a:lnSpc>
              <a:spcAft>
                <a:spcPts val="300"/>
              </a:spcAft>
            </a:pPr>
            <a:r>
              <a:rPr sz="1250" b="1">
                <a:solidFill>
                  <a:srgbClr val="595959"/>
                </a:solidFill>
                <a:latin typeface="Microsoft YaHei"/>
                <a:ea typeface="Microsoft YaHei"/>
              </a:rPr>
              <a:t>• </a:t>
            </a:r>
            <a:r>
              <a:rPr sz="1250" b="0">
                <a:solidFill>
                  <a:srgbClr val="000000"/>
                </a:solidFill>
                <a:latin typeface="Microsoft YaHei"/>
                <a:ea typeface="Microsoft YaHei"/>
              </a:rPr>
              <a:t>任务队列与动作掩码</a:t>
            </a:r>
          </a:p>
          <a:p>
            <a:pPr algn="ctr">
              <a:lnSpc>
                <a:spcPct val="115000"/>
              </a:lnSpc>
              <a:spcAft>
                <a:spcPts val="300"/>
              </a:spcAft>
            </a:pPr>
            <a:r>
              <a:rPr sz="1250" b="1">
                <a:solidFill>
                  <a:srgbClr val="595959"/>
                </a:solidFill>
                <a:latin typeface="Microsoft YaHei"/>
                <a:ea typeface="Microsoft YaHei"/>
              </a:rPr>
              <a:t>• </a:t>
            </a:r>
            <a:r>
              <a:rPr sz="1250" b="0">
                <a:solidFill>
                  <a:srgbClr val="000000"/>
                </a:solidFill>
                <a:latin typeface="Microsoft YaHei"/>
                <a:ea typeface="Microsoft YaHei"/>
              </a:rPr>
              <a:t>货物逻辑吸附与所有权切换</a:t>
            </a:r>
          </a:p>
          <a:p>
            <a:pPr algn="ctr">
              <a:lnSpc>
                <a:spcPct val="115000"/>
              </a:lnSpc>
              <a:spcAft>
                <a:spcPts val="300"/>
              </a:spcAft>
            </a:pPr>
            <a:r>
              <a:rPr sz="1250" b="1">
                <a:solidFill>
                  <a:srgbClr val="595959"/>
                </a:solidFill>
                <a:latin typeface="Microsoft YaHei"/>
                <a:ea typeface="Microsoft YaHei"/>
              </a:rPr>
              <a:t>• </a:t>
            </a:r>
            <a:r>
              <a:rPr sz="1250" b="0">
                <a:solidFill>
                  <a:srgbClr val="000000"/>
                </a:solidFill>
                <a:latin typeface="Microsoft YaHei"/>
                <a:ea typeface="Microsoft YaHei"/>
              </a:rPr>
              <a:t>区域、交接点、楼梯的占用 / 释放审计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2011680" y="3854196"/>
            <a:ext cx="457200" cy="100584"/>
          </a:xfrm>
          <a:prstGeom prst="downArrow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3968496"/>
            <a:ext cx="3383280" cy="117043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36576" bIns="36576"/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执行层 · SCAN-Planner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069080" y="3968496"/>
            <a:ext cx="7573975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36576" bIns="36576"/>
          <a:lstStyle/>
          <a:p>
            <a:pPr algn="ctr">
              <a:lnSpc>
                <a:spcPct val="115000"/>
              </a:lnSpc>
              <a:spcAft>
                <a:spcPts val="300"/>
              </a:spcAft>
            </a:pPr>
            <a:r>
              <a:rPr sz="1250" b="1">
                <a:solidFill>
                  <a:srgbClr val="595959"/>
                </a:solidFill>
                <a:latin typeface="Microsoft YaHei"/>
                <a:ea typeface="Microsoft YaHei"/>
              </a:rPr>
              <a:t>• </a:t>
            </a:r>
            <a:r>
              <a:rPr sz="1250" b="0">
                <a:solidFill>
                  <a:srgbClr val="000000"/>
                </a:solidFill>
                <a:latin typeface="Microsoft YaHei"/>
                <a:ea typeface="Microsoft YaHei"/>
              </a:rPr>
              <a:t>Carter 与 Go2 均使用 SCAN-Planner 执行具体路径</a:t>
            </a:r>
          </a:p>
          <a:p>
            <a:pPr algn="ctr">
              <a:lnSpc>
                <a:spcPct val="115000"/>
              </a:lnSpc>
              <a:spcAft>
                <a:spcPts val="300"/>
              </a:spcAft>
            </a:pPr>
            <a:r>
              <a:rPr sz="1250" b="1">
                <a:solidFill>
                  <a:srgbClr val="595959"/>
                </a:solidFill>
                <a:latin typeface="Microsoft YaHei"/>
                <a:ea typeface="Microsoft YaHei"/>
              </a:rPr>
              <a:t>• </a:t>
            </a:r>
            <a:r>
              <a:rPr sz="1250" b="0">
                <a:solidFill>
                  <a:srgbClr val="000000"/>
                </a:solidFill>
                <a:latin typeface="Microsoft YaHei"/>
                <a:ea typeface="Microsoft YaHei"/>
              </a:rPr>
              <a:t>两者运动能力模型不同，共享高层任务调度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2011680" y="5152644"/>
            <a:ext cx="457200" cy="100584"/>
          </a:xfrm>
          <a:prstGeom prst="downArrow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5266944"/>
            <a:ext cx="3383280" cy="117043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36576" bIns="36576"/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显示层 · RViz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069080" y="5266944"/>
            <a:ext cx="7573975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36576" bIns="36576"/>
          <a:lstStyle/>
          <a:p>
            <a:pPr algn="ctr">
              <a:lnSpc>
                <a:spcPct val="115000"/>
              </a:lnSpc>
              <a:spcAft>
                <a:spcPts val="300"/>
              </a:spcAft>
            </a:pPr>
            <a:r>
              <a:rPr sz="1250" b="1">
                <a:solidFill>
                  <a:srgbClr val="595959"/>
                </a:solidFill>
                <a:latin typeface="Microsoft YaHei"/>
                <a:ea typeface="Microsoft YaHei"/>
              </a:rPr>
              <a:t>• </a:t>
            </a:r>
            <a:r>
              <a:rPr sz="1250" b="0">
                <a:solidFill>
                  <a:srgbClr val="000000"/>
                </a:solidFill>
                <a:latin typeface="Microsoft YaHei"/>
                <a:ea typeface="Microsoft YaHei"/>
              </a:rPr>
              <a:t>仓库三维点云、占据区域、规划轨迹、机器人标签</a:t>
            </a:r>
          </a:p>
          <a:p>
            <a:pPr algn="ctr">
              <a:lnSpc>
                <a:spcPct val="115000"/>
              </a:lnSpc>
              <a:spcAft>
                <a:spcPts val="300"/>
              </a:spcAft>
            </a:pPr>
            <a:r>
              <a:rPr sz="1250" b="1">
                <a:solidFill>
                  <a:srgbClr val="595959"/>
                </a:solidFill>
                <a:latin typeface="Microsoft YaHei"/>
                <a:ea typeface="Microsoft YaHei"/>
              </a:rPr>
              <a:t>• </a:t>
            </a:r>
            <a:r>
              <a:rPr sz="1250" b="0">
                <a:solidFill>
                  <a:srgbClr val="000000"/>
                </a:solidFill>
                <a:latin typeface="Microsoft YaHei"/>
                <a:ea typeface="Microsoft YaHei"/>
              </a:rPr>
              <a:t>Go2 / Carter 模型统一显示，用于功能和路线验收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702552"/>
            <a:ext cx="110944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00000"/>
                </a:solidFill>
                <a:latin typeface="Microsoft YaHei"/>
                <a:ea typeface="Microsoft YaHei"/>
              </a:rPr>
              <a:t>要点：</a:t>
            </a:r>
            <a:r>
              <a:rPr sz="1400" b="0">
                <a:solidFill>
                  <a:srgbClr val="1F1F1F"/>
                </a:solidFill>
                <a:latin typeface="Microsoft YaHei"/>
                <a:ea typeface="Microsoft YaHei"/>
              </a:rPr>
              <a:t>高层只做任务级决策；路径执行统一交给 SCAN-Planner；低层运动控制（速度 / 关节 / 步态）不在当前调度范围内。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595959"/>
                </a:solidFill>
                <a:latin typeface="Microsoft YaHei"/>
                <a:ea typeface="Microsoft YaHei"/>
              </a:rPr>
              <a:t>双层仓储异构机器人协作运输 · 2026-08-06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1">
                <a:solidFill>
                  <a:srgbClr val="595959"/>
                </a:solidFill>
                <a:latin typeface="Microsoft YaHei"/>
                <a:ea typeface="Microsoft YaHei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57200"/>
            <a:ext cx="146304" cy="47548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9536" y="384048"/>
            <a:ext cx="914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595959"/>
                </a:solidFill>
                <a:latin typeface="Microsoft YaHei"/>
                <a:ea typeface="Microsoft YaHei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73936" y="384048"/>
            <a:ext cx="986911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600" b="1">
                <a:solidFill>
                  <a:srgbClr val="000000"/>
                </a:solidFill>
                <a:latin typeface="Microsoft YaHei"/>
                <a:ea typeface="Microsoft YaHei"/>
              </a:rPr>
              <a:t>已完成的场景与规划工作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73936" y="896112"/>
            <a:ext cx="986911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595959"/>
                </a:solidFill>
                <a:latin typeface="Microsoft YaHei"/>
                <a:ea typeface="Microsoft YaHei"/>
              </a:rPr>
              <a:t>双层仓库与基础场景 · RViz 显示 · 路线规划与协作运输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280160"/>
            <a:ext cx="11094415" cy="2794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325880"/>
            <a:ext cx="5410047" cy="4572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399032"/>
            <a:ext cx="513572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① 双层仓库与基础场景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929384"/>
            <a:ext cx="5227167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900"/>
              </a:spcAft>
            </a:pPr>
            <a:r>
              <a:rPr sz="1250" b="1">
                <a:solidFill>
                  <a:srgbClr val="595959"/>
                </a:solidFill>
                <a:latin typeface="Microsoft YaHei"/>
                <a:ea typeface="Microsoft YaHei"/>
              </a:rPr>
              <a:t>• </a:t>
            </a:r>
            <a:r>
              <a:rPr sz="1250" b="0">
                <a:solidFill>
                  <a:srgbClr val="000000"/>
                </a:solidFill>
                <a:latin typeface="Microsoft YaHei"/>
                <a:ea typeface="Microsoft YaHei"/>
              </a:rPr>
              <a:t>建立双层仓库、中央镂空区、四条楼梯、护栏</a:t>
            </a:r>
          </a:p>
          <a:p>
            <a:pPr algn="l">
              <a:lnSpc>
                <a:spcPct val="115000"/>
              </a:lnSpc>
              <a:spcAft>
                <a:spcPts val="900"/>
              </a:spcAft>
            </a:pPr>
            <a:r>
              <a:rPr sz="1250" b="1">
                <a:solidFill>
                  <a:srgbClr val="595959"/>
                </a:solidFill>
                <a:latin typeface="Microsoft YaHei"/>
                <a:ea typeface="Microsoft YaHei"/>
              </a:rPr>
              <a:t>• </a:t>
            </a:r>
            <a:r>
              <a:rPr sz="1250" b="0">
                <a:solidFill>
                  <a:srgbClr val="000000"/>
                </a:solidFill>
                <a:latin typeface="Microsoft YaHei"/>
                <a:ea typeface="Microsoft YaHei"/>
              </a:rPr>
              <a:t>修正楼梯顶部与二楼平台连接（避免最后一级掉落）</a:t>
            </a:r>
          </a:p>
          <a:p>
            <a:pPr algn="l">
              <a:lnSpc>
                <a:spcPct val="115000"/>
              </a:lnSpc>
              <a:spcAft>
                <a:spcPts val="900"/>
              </a:spcAft>
            </a:pPr>
            <a:r>
              <a:rPr sz="1250" b="1">
                <a:solidFill>
                  <a:srgbClr val="595959"/>
                </a:solidFill>
                <a:latin typeface="Microsoft YaHei"/>
                <a:ea typeface="Microsoft YaHei"/>
              </a:rPr>
              <a:t>• </a:t>
            </a:r>
            <a:r>
              <a:rPr sz="1250" b="0">
                <a:solidFill>
                  <a:srgbClr val="000000"/>
                </a:solidFill>
                <a:latin typeface="Microsoft YaHei"/>
                <a:ea typeface="Microsoft YaHei"/>
              </a:rPr>
              <a:t>一楼照明 + 5 根二楼支撑柱，楼梯黄色材质</a:t>
            </a:r>
          </a:p>
          <a:p>
            <a:pPr algn="l">
              <a:lnSpc>
                <a:spcPct val="115000"/>
              </a:lnSpc>
              <a:spcAft>
                <a:spcPts val="900"/>
              </a:spcAft>
            </a:pPr>
            <a:r>
              <a:rPr sz="1250" b="1">
                <a:solidFill>
                  <a:srgbClr val="595959"/>
                </a:solidFill>
                <a:latin typeface="Microsoft YaHei"/>
                <a:ea typeface="Microsoft YaHei"/>
              </a:rPr>
              <a:t>• </a:t>
            </a:r>
            <a:r>
              <a:rPr sz="1250" b="0">
                <a:solidFill>
                  <a:srgbClr val="000000"/>
                </a:solidFill>
                <a:latin typeface="Microsoft YaHei"/>
                <a:ea typeface="Microsoft YaHei"/>
              </a:rPr>
              <a:t>障碍区改造为装卸 / 运输平台，一楼外围航线扩展至楼梯交接区</a:t>
            </a:r>
          </a:p>
          <a:p>
            <a:pPr algn="l">
              <a:lnSpc>
                <a:spcPct val="115000"/>
              </a:lnSpc>
              <a:spcAft>
                <a:spcPts val="900"/>
              </a:spcAft>
            </a:pPr>
            <a:r>
              <a:rPr sz="1250" b="1">
                <a:solidFill>
                  <a:srgbClr val="595959"/>
                </a:solidFill>
                <a:latin typeface="Microsoft YaHei"/>
                <a:ea typeface="Microsoft YaHei"/>
              </a:rPr>
              <a:t>• </a:t>
            </a:r>
            <a:r>
              <a:rPr sz="1250" b="0">
                <a:solidFill>
                  <a:srgbClr val="000000"/>
                </a:solidFill>
                <a:latin typeface="Microsoft YaHei"/>
                <a:ea typeface="Microsoft YaHei"/>
              </a:rPr>
              <a:t>4 只 Go2 与多辆 Carter 纳入统一仓储任务场景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33007" y="1325880"/>
            <a:ext cx="5410047" cy="4572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70167" y="1399032"/>
            <a:ext cx="513572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② RViz / 模型 / 点云显示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24447" y="1929384"/>
            <a:ext cx="5227167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900"/>
              </a:spcAft>
            </a:pPr>
            <a:r>
              <a:rPr sz="1250" b="1">
                <a:solidFill>
                  <a:srgbClr val="595959"/>
                </a:solidFill>
                <a:latin typeface="Microsoft YaHei"/>
                <a:ea typeface="Microsoft YaHei"/>
              </a:rPr>
              <a:t>• </a:t>
            </a:r>
            <a:r>
              <a:rPr sz="1250" b="0">
                <a:solidFill>
                  <a:srgbClr val="000000"/>
                </a:solidFill>
                <a:latin typeface="Microsoft YaHei"/>
                <a:ea typeface="Microsoft YaHei"/>
              </a:rPr>
              <a:t>生成 SCAN-Planner 用 PCD 点云与 YAML 配置</a:t>
            </a:r>
          </a:p>
          <a:p>
            <a:pPr algn="l">
              <a:lnSpc>
                <a:spcPct val="115000"/>
              </a:lnSpc>
              <a:spcAft>
                <a:spcPts val="900"/>
              </a:spcAft>
            </a:pPr>
            <a:r>
              <a:rPr sz="1250" b="1">
                <a:solidFill>
                  <a:srgbClr val="595959"/>
                </a:solidFill>
                <a:latin typeface="Microsoft YaHei"/>
                <a:ea typeface="Microsoft YaHei"/>
              </a:rPr>
              <a:t>• </a:t>
            </a:r>
            <a:r>
              <a:rPr sz="1250" b="0">
                <a:solidFill>
                  <a:srgbClr val="000000"/>
                </a:solidFill>
                <a:latin typeface="Microsoft YaHei"/>
                <a:ea typeface="Microsoft YaHei"/>
              </a:rPr>
              <a:t>修复 Go2 RobotModel 因 TF 链不完整导致的爆红问题</a:t>
            </a:r>
          </a:p>
          <a:p>
            <a:pPr algn="l">
              <a:lnSpc>
                <a:spcPct val="115000"/>
              </a:lnSpc>
              <a:spcAft>
                <a:spcPts val="900"/>
              </a:spcAft>
            </a:pPr>
            <a:r>
              <a:rPr sz="1250" b="1">
                <a:solidFill>
                  <a:srgbClr val="595959"/>
                </a:solidFill>
                <a:latin typeface="Microsoft YaHei"/>
                <a:ea typeface="Microsoft YaHei"/>
              </a:rPr>
              <a:t>• </a:t>
            </a:r>
            <a:r>
              <a:rPr sz="1250" b="0">
                <a:solidFill>
                  <a:srgbClr val="000000"/>
                </a:solidFill>
                <a:latin typeface="Microsoft YaHei"/>
                <a:ea typeface="Microsoft YaHei"/>
              </a:rPr>
              <a:t>点云、占据区、轨迹、标签、Go2 / Carter 模型统一显示</a:t>
            </a:r>
          </a:p>
          <a:p>
            <a:pPr algn="l">
              <a:lnSpc>
                <a:spcPct val="115000"/>
              </a:lnSpc>
              <a:spcAft>
                <a:spcPts val="900"/>
              </a:spcAft>
            </a:pPr>
            <a:r>
              <a:rPr sz="1250" b="1">
                <a:solidFill>
                  <a:srgbClr val="595959"/>
                </a:solidFill>
                <a:latin typeface="Microsoft YaHei"/>
                <a:ea typeface="Microsoft YaHei"/>
              </a:rPr>
              <a:t>• </a:t>
            </a:r>
            <a:r>
              <a:rPr sz="1250" b="0">
                <a:solidFill>
                  <a:srgbClr val="000000"/>
                </a:solidFill>
                <a:latin typeface="Microsoft YaHei"/>
                <a:ea typeface="Microsoft YaHei"/>
              </a:rPr>
              <a:t>演示必须显示机器人本体，不能只显示路径 / 标签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4160520"/>
            <a:ext cx="5410047" cy="4572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4233672"/>
            <a:ext cx="513572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③ 路线规划与协作运输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764024"/>
            <a:ext cx="5227167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900"/>
              </a:spcAft>
            </a:pPr>
            <a:r>
              <a:rPr sz="1250" b="1">
                <a:solidFill>
                  <a:srgbClr val="595959"/>
                </a:solidFill>
                <a:latin typeface="Microsoft YaHei"/>
                <a:ea typeface="Microsoft YaHei"/>
              </a:rPr>
              <a:t>• </a:t>
            </a:r>
            <a:r>
              <a:rPr sz="1250" b="0">
                <a:solidFill>
                  <a:srgbClr val="000000"/>
                </a:solidFill>
                <a:latin typeface="Microsoft YaHei"/>
                <a:ea typeface="Microsoft YaHei"/>
              </a:rPr>
              <a:t>Carter 由 Nav2 统一切换为 SCAN-Planner，直线行驶效果</a:t>
            </a:r>
          </a:p>
          <a:p>
            <a:pPr algn="l">
              <a:lnSpc>
                <a:spcPct val="115000"/>
              </a:lnSpc>
              <a:spcAft>
                <a:spcPts val="900"/>
              </a:spcAft>
            </a:pPr>
            <a:r>
              <a:rPr sz="1250" b="1">
                <a:solidFill>
                  <a:srgbClr val="595959"/>
                </a:solidFill>
                <a:latin typeface="Microsoft YaHei"/>
                <a:ea typeface="Microsoft YaHei"/>
              </a:rPr>
              <a:t>• </a:t>
            </a:r>
            <a:r>
              <a:rPr sz="1250" b="0">
                <a:solidFill>
                  <a:srgbClr val="000000"/>
                </a:solidFill>
                <a:latin typeface="Microsoft YaHei"/>
                <a:ea typeface="Microsoft YaHei"/>
              </a:rPr>
              <a:t>验证一楼取货 → 交接 → Go2 上楼 → 二楼接货 → 卸货完整路线</a:t>
            </a:r>
          </a:p>
          <a:p>
            <a:pPr algn="l">
              <a:lnSpc>
                <a:spcPct val="115000"/>
              </a:lnSpc>
              <a:spcAft>
                <a:spcPts val="900"/>
              </a:spcAft>
            </a:pPr>
            <a:r>
              <a:rPr sz="1250" b="1">
                <a:solidFill>
                  <a:srgbClr val="595959"/>
                </a:solidFill>
                <a:latin typeface="Microsoft YaHei"/>
                <a:ea typeface="Microsoft YaHei"/>
              </a:rPr>
              <a:t>• </a:t>
            </a:r>
            <a:r>
              <a:rPr sz="1250" b="0">
                <a:solidFill>
                  <a:srgbClr val="000000"/>
                </a:solidFill>
                <a:latin typeface="Microsoft YaHei"/>
                <a:ea typeface="Microsoft YaHei"/>
              </a:rPr>
              <a:t>验证其余楼梯同类交接路线，楼梯不绑定固定象限</a:t>
            </a:r>
          </a:p>
          <a:p>
            <a:pPr algn="l">
              <a:lnSpc>
                <a:spcPct val="115000"/>
              </a:lnSpc>
              <a:spcAft>
                <a:spcPts val="900"/>
              </a:spcAft>
            </a:pPr>
            <a:r>
              <a:rPr sz="1250" b="1">
                <a:solidFill>
                  <a:srgbClr val="595959"/>
                </a:solidFill>
                <a:latin typeface="Microsoft YaHei"/>
                <a:ea typeface="Microsoft YaHei"/>
              </a:rPr>
              <a:t>• </a:t>
            </a:r>
            <a:r>
              <a:rPr sz="1250" b="0">
                <a:solidFill>
                  <a:srgbClr val="000000"/>
                </a:solidFill>
                <a:latin typeface="Microsoft YaHei"/>
                <a:ea typeface="Microsoft YaHei"/>
              </a:rPr>
              <a:t>Go2 与 Carter 共享高层任务调度可行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33007" y="4160520"/>
            <a:ext cx="5410047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2E8B57"/>
                </a:solidFill>
                <a:latin typeface="Microsoft YaHei"/>
                <a:ea typeface="Microsoft YaHei"/>
              </a:rPr>
              <a:t>结论：</a:t>
            </a:r>
            <a:r>
              <a:rPr sz="1400" b="0">
                <a:solidFill>
                  <a:srgbClr val="1F1F1F"/>
                </a:solidFill>
                <a:latin typeface="Microsoft YaHei"/>
                <a:ea typeface="Microsoft YaHei"/>
              </a:rPr>
              <a:t>场景、显示与四楼梯协作路线均已就绪，进入阶段 11 正式验收。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595959"/>
                </a:solidFill>
                <a:latin typeface="Microsoft YaHei"/>
                <a:ea typeface="Microsoft YaHei"/>
              </a:rPr>
              <a:t>双层仓储异构机器人协作运输 · 2026-08-06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1">
                <a:solidFill>
                  <a:srgbClr val="595959"/>
                </a:solidFill>
                <a:latin typeface="Microsoft YaHei"/>
                <a:ea typeface="Microsoft YaHei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57200"/>
            <a:ext cx="146304" cy="47548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9536" y="384048"/>
            <a:ext cx="914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595959"/>
                </a:solidFill>
                <a:latin typeface="Microsoft YaHei"/>
                <a:ea typeface="Microsoft YaHei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73936" y="384048"/>
            <a:ext cx="986911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600" b="1">
                <a:solidFill>
                  <a:srgbClr val="000000"/>
                </a:solidFill>
                <a:latin typeface="Microsoft YaHei"/>
                <a:ea typeface="Microsoft YaHei"/>
              </a:rPr>
              <a:t>货物与交接可视化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73936" y="896112"/>
            <a:ext cx="986911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595959"/>
                </a:solidFill>
                <a:latin typeface="Microsoft YaHei"/>
                <a:ea typeface="Microsoft YaHei"/>
              </a:rPr>
              <a:t>货物显示、吸附、转移与卸货 · 已人工验收通过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280160"/>
            <a:ext cx="11094415" cy="2794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722815" y="457200"/>
            <a:ext cx="1920240" cy="292608"/>
          </a:xfrm>
          <a:prstGeom prst="round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36576" bIns="36576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</a:rPr>
              <a:t>已人工验收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920240"/>
            <a:ext cx="2087209" cy="2011680"/>
          </a:xfrm>
          <a:prstGeom prst="rect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 wrap="square" lIns="54864" rIns="73152" tIns="36576" bIns="36576"/>
          <a:lstStyle/>
          <a:p>
            <a:pPr algn="ctr">
              <a:lnSpc>
                <a:spcPct val="112000"/>
              </a:lnSpc>
              <a:spcAft>
                <a:spcPts val="200"/>
              </a:spcAft>
            </a:pPr>
            <a:r>
              <a:rPr sz="1050" b="0">
                <a:solidFill>
                  <a:srgbClr val="1F1F1F"/>
                </a:solidFill>
                <a:latin typeface="Microsoft YaHei"/>
                <a:ea typeface="Microsoft YaHei"/>
              </a:rPr>
              <a:t>货物位于装卸货平台
（有一定高度，非地面）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920240"/>
            <a:ext cx="2087209" cy="4572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36576" bIns="36576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承运载体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427652" y="2578608"/>
            <a:ext cx="329184" cy="329184"/>
          </a:xfrm>
          <a:prstGeom prst="rect">
            <a:avLst/>
          </a:prstGeom>
          <a:solidFill>
            <a:srgbClr val="E86A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926080"/>
            <a:ext cx="208720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000000"/>
                </a:solidFill>
                <a:latin typeface="Microsoft YaHei"/>
                <a:ea typeface="Microsoft YaHei"/>
              </a:rPr>
              <a:t>平台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218688"/>
            <a:ext cx="2087209" cy="1524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ight Arrow 13"/>
          <p:cNvSpPr/>
          <p:nvPr/>
        </p:nvSpPr>
        <p:spPr>
          <a:xfrm>
            <a:off x="2654137" y="2761488"/>
            <a:ext cx="128016" cy="329184"/>
          </a:xfrm>
          <a:prstGeom prst="rightArrow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800441" y="1920240"/>
            <a:ext cx="2087209" cy="2011680"/>
          </a:xfrm>
          <a:prstGeom prst="rect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 wrap="square" lIns="54864" rIns="73152" tIns="36576" bIns="36576"/>
          <a:lstStyle/>
          <a:p>
            <a:pPr algn="ctr">
              <a:lnSpc>
                <a:spcPct val="112000"/>
              </a:lnSpc>
              <a:spcAft>
                <a:spcPts val="200"/>
              </a:spcAft>
            </a:pPr>
            <a:r>
              <a:rPr sz="1050" b="0">
                <a:solidFill>
                  <a:srgbClr val="1F1F1F"/>
                </a:solidFill>
                <a:latin typeface="Microsoft YaHei"/>
                <a:ea typeface="Microsoft YaHei"/>
              </a:rPr>
              <a:t>取货并吸附
（缩小方块靠近本体）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00441" y="1920240"/>
            <a:ext cx="2087209" cy="4572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36576" bIns="36576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承运载体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79454" y="2578608"/>
            <a:ext cx="329184" cy="329184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800441" y="2926080"/>
            <a:ext cx="208720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000000"/>
                </a:solidFill>
                <a:latin typeface="Microsoft YaHei"/>
                <a:ea typeface="Microsoft YaHei"/>
              </a:rPr>
              <a:t>Carter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800441" y="3218688"/>
            <a:ext cx="2087209" cy="1524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ight Arrow 19"/>
          <p:cNvSpPr/>
          <p:nvPr/>
        </p:nvSpPr>
        <p:spPr>
          <a:xfrm>
            <a:off x="4905938" y="2761488"/>
            <a:ext cx="128016" cy="329184"/>
          </a:xfrm>
          <a:prstGeom prst="rightArrow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52242" y="1920240"/>
            <a:ext cx="2087209" cy="2011680"/>
          </a:xfrm>
          <a:prstGeom prst="rect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 wrap="square" lIns="54864" rIns="73152" tIns="36576" bIns="36576"/>
          <a:lstStyle/>
          <a:p>
            <a:pPr algn="ctr">
              <a:lnSpc>
                <a:spcPct val="112000"/>
              </a:lnSpc>
              <a:spcAft>
                <a:spcPts val="200"/>
              </a:spcAft>
            </a:pPr>
            <a:r>
              <a:rPr sz="1050" b="0">
                <a:solidFill>
                  <a:srgbClr val="1F1F1F"/>
                </a:solidFill>
                <a:latin typeface="Microsoft YaHei"/>
                <a:ea typeface="Microsoft YaHei"/>
              </a:rPr>
              <a:t>Carter→Go2
瞬时切换吸附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52242" y="1920240"/>
            <a:ext cx="2087209" cy="4572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36576" bIns="36576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承运载体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31255" y="2578608"/>
            <a:ext cx="329184" cy="329184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52242" y="2926080"/>
            <a:ext cx="208720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000000"/>
                </a:solidFill>
                <a:latin typeface="Microsoft YaHei"/>
                <a:ea typeface="Microsoft YaHei"/>
              </a:rPr>
              <a:t>Go2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52242" y="3218688"/>
            <a:ext cx="2087209" cy="1524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ight Arrow 25"/>
          <p:cNvSpPr/>
          <p:nvPr/>
        </p:nvSpPr>
        <p:spPr>
          <a:xfrm>
            <a:off x="7157740" y="2761488"/>
            <a:ext cx="128016" cy="329184"/>
          </a:xfrm>
          <a:prstGeom prst="rightArrow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04044" y="1920240"/>
            <a:ext cx="2087209" cy="2011680"/>
          </a:xfrm>
          <a:prstGeom prst="rect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 wrap="square" lIns="54864" rIns="73152" tIns="36576" bIns="36576"/>
          <a:lstStyle/>
          <a:p>
            <a:pPr algn="ctr">
              <a:lnSpc>
                <a:spcPct val="112000"/>
              </a:lnSpc>
              <a:spcAft>
                <a:spcPts val="200"/>
              </a:spcAft>
            </a:pPr>
            <a:r>
              <a:rPr sz="1050" b="0">
                <a:solidFill>
                  <a:srgbClr val="1F1F1F"/>
                </a:solidFill>
                <a:latin typeface="Microsoft YaHei"/>
                <a:ea typeface="Microsoft YaHei"/>
              </a:rPr>
              <a:t>Go2→二楼 Carter
交接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04044" y="1920240"/>
            <a:ext cx="2087209" cy="4572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36576" bIns="36576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承运载体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183056" y="2578608"/>
            <a:ext cx="329184" cy="329184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04044" y="2926080"/>
            <a:ext cx="208720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000000"/>
                </a:solidFill>
                <a:latin typeface="Microsoft YaHei"/>
                <a:ea typeface="Microsoft YaHei"/>
              </a:rPr>
              <a:t>Carter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304044" y="3218688"/>
            <a:ext cx="2087209" cy="1524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ight Arrow 31"/>
          <p:cNvSpPr/>
          <p:nvPr/>
        </p:nvSpPr>
        <p:spPr>
          <a:xfrm>
            <a:off x="9409541" y="2761488"/>
            <a:ext cx="128016" cy="329184"/>
          </a:xfrm>
          <a:prstGeom prst="rightArrow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555845" y="1920240"/>
            <a:ext cx="2087209" cy="2011680"/>
          </a:xfrm>
          <a:prstGeom prst="rect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 wrap="square" lIns="54864" rIns="73152" tIns="36576" bIns="36576"/>
          <a:lstStyle/>
          <a:p>
            <a:pPr algn="ctr">
              <a:lnSpc>
                <a:spcPct val="112000"/>
              </a:lnSpc>
              <a:spcAft>
                <a:spcPts val="200"/>
              </a:spcAft>
            </a:pPr>
            <a:r>
              <a:rPr sz="1050" b="0">
                <a:solidFill>
                  <a:srgbClr val="1F1F1F"/>
                </a:solidFill>
                <a:latin typeface="Microsoft YaHei"/>
                <a:ea typeface="Microsoft YaHei"/>
              </a:rPr>
              <a:t>目标平台卸货
所有权切换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555845" y="1920240"/>
            <a:ext cx="2087209" cy="4572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36576" bIns="36576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承运载体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434858" y="2578608"/>
            <a:ext cx="329184" cy="329184"/>
          </a:xfrm>
          <a:prstGeom prst="rect">
            <a:avLst/>
          </a:prstGeom>
          <a:solidFill>
            <a:srgbClr val="E86A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555845" y="2926080"/>
            <a:ext cx="208720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000000"/>
                </a:solidFill>
                <a:latin typeface="Microsoft YaHei"/>
                <a:ea typeface="Microsoft YaHei"/>
              </a:rPr>
              <a:t>平台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555845" y="3218688"/>
            <a:ext cx="2087209" cy="1524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48640" y="4434840"/>
            <a:ext cx="3545738" cy="1371600"/>
          </a:xfrm>
          <a:prstGeom prst="rect">
            <a:avLst/>
          </a:prstGeom>
          <a:solidFill>
            <a:srgbClr val="F2F2F2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85800" y="4572000"/>
            <a:ext cx="327141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00000"/>
                </a:solidFill>
                <a:latin typeface="Microsoft YaHei"/>
                <a:ea typeface="Microsoft YaHei"/>
              </a:rPr>
              <a:t>无重力逻辑吸附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5800" y="4956048"/>
            <a:ext cx="3271418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0">
                <a:solidFill>
                  <a:srgbClr val="1F1F1F"/>
                </a:solidFill>
                <a:latin typeface="Microsoft YaHei"/>
                <a:ea typeface="Microsoft YaHei"/>
              </a:rPr>
              <a:t>货物为可视化方块 + 逻辑吸附，不模拟货物重力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322978" y="4434840"/>
            <a:ext cx="3545738" cy="1371600"/>
          </a:xfrm>
          <a:prstGeom prst="rect">
            <a:avLst/>
          </a:prstGeom>
          <a:solidFill>
            <a:srgbClr val="F2F2F2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460138" y="4572000"/>
            <a:ext cx="327141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00000"/>
                </a:solidFill>
                <a:latin typeface="Microsoft YaHei"/>
                <a:ea typeface="Microsoft YaHei"/>
              </a:rPr>
              <a:t>交接瞬时切换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460138" y="4956048"/>
            <a:ext cx="3271418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0">
                <a:solidFill>
                  <a:srgbClr val="1F1F1F"/>
                </a:solidFill>
                <a:latin typeface="Microsoft YaHei"/>
                <a:ea typeface="Microsoft YaHei"/>
              </a:rPr>
              <a:t>交接完成无需额外长时间停顿，确认吸附成功即继续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097316" y="4434840"/>
            <a:ext cx="3545738" cy="1371600"/>
          </a:xfrm>
          <a:prstGeom prst="rect">
            <a:avLst/>
          </a:prstGeom>
          <a:solidFill>
            <a:srgbClr val="F2F2F2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234476" y="4572000"/>
            <a:ext cx="327141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00000"/>
                </a:solidFill>
                <a:latin typeface="Microsoft YaHei"/>
                <a:ea typeface="Microsoft YaHei"/>
              </a:rPr>
              <a:t>逻辑层验收通过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34476" y="4956048"/>
            <a:ext cx="3271418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0">
                <a:solidFill>
                  <a:srgbClr val="1F1F1F"/>
                </a:solidFill>
                <a:latin typeface="Microsoft YaHei"/>
                <a:ea typeface="Microsoft YaHei"/>
              </a:rPr>
              <a:t>货物显示 / 吸附 / 转移 / 卸货已人工验收，不再作为当前主要风险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595959"/>
                </a:solidFill>
                <a:latin typeface="Microsoft YaHei"/>
                <a:ea typeface="Microsoft YaHei"/>
              </a:rPr>
              <a:t>双层仓储异构机器人协作运输 · 2026-08-06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1">
                <a:solidFill>
                  <a:srgbClr val="595959"/>
                </a:solidFill>
                <a:latin typeface="Microsoft YaHei"/>
                <a:ea typeface="Microsoft YaHei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57200"/>
            <a:ext cx="146304" cy="47548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9536" y="384048"/>
            <a:ext cx="914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595959"/>
                </a:solidFill>
                <a:latin typeface="Microsoft YaHei"/>
                <a:ea typeface="Microsoft YaHei"/>
              </a:rP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73936" y="384048"/>
            <a:ext cx="986911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600" b="1">
                <a:solidFill>
                  <a:srgbClr val="000000"/>
                </a:solidFill>
                <a:latin typeface="Microsoft YaHei"/>
                <a:ea typeface="Microsoft YaHei"/>
              </a:rPr>
              <a:t>阶段 11 · 持久状态与事件驱动调度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73936" y="896112"/>
            <a:ext cx="986911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595959"/>
                </a:solidFill>
                <a:latin typeface="Microsoft YaHei"/>
                <a:ea typeface="Microsoft YaHei"/>
              </a:rPr>
              <a:t>已正式验收并封板，形成规则与强化学习共用的事件驱动 SMDP 环境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280160"/>
            <a:ext cx="11094415" cy="2794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417320"/>
            <a:ext cx="2087209" cy="1874519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417320"/>
            <a:ext cx="2087209" cy="82296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1600200"/>
            <a:ext cx="186775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50" b="1">
                <a:solidFill>
                  <a:srgbClr val="000000"/>
                </a:solidFill>
                <a:latin typeface="Microsoft YaHei"/>
                <a:ea typeface="Microsoft YaHei"/>
              </a:rPr>
              <a:t>无损异步任务队列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2194560"/>
            <a:ext cx="1867753" cy="9601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0">
                <a:solidFill>
                  <a:srgbClr val="595959"/>
                </a:solidFill>
                <a:latin typeface="Microsoft YaHei"/>
                <a:ea typeface="Microsoft YaHei"/>
              </a:rPr>
              <a:t>策略每次观察优先级最高的 K=8 个任务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00441" y="1417320"/>
            <a:ext cx="2087209" cy="1874519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800441" y="1417320"/>
            <a:ext cx="2087209" cy="82296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10169" y="1600200"/>
            <a:ext cx="186775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50" b="1">
                <a:solidFill>
                  <a:srgbClr val="000000"/>
                </a:solidFill>
                <a:latin typeface="Microsoft YaHei"/>
                <a:ea typeface="Microsoft YaHei"/>
              </a:rPr>
              <a:t>四类任务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10169" y="2194560"/>
            <a:ext cx="1867753" cy="9601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0">
                <a:solidFill>
                  <a:srgbClr val="595959"/>
                </a:solidFill>
                <a:latin typeface="Microsoft YaHei"/>
                <a:ea typeface="Microsoft YaHei"/>
              </a:rPr>
              <a:t>一楼同层 / 二楼同层 / 跨层上行 / 跨层下行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52242" y="1417320"/>
            <a:ext cx="2087209" cy="1874519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52242" y="1417320"/>
            <a:ext cx="2087209" cy="82296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61970" y="1600200"/>
            <a:ext cx="186775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50" b="1">
                <a:solidFill>
                  <a:srgbClr val="000000"/>
                </a:solidFill>
                <a:latin typeface="Microsoft YaHei"/>
                <a:ea typeface="Microsoft YaHei"/>
              </a:rPr>
              <a:t>动态组合选择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61970" y="2194560"/>
            <a:ext cx="1867753" cy="9601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0">
                <a:solidFill>
                  <a:srgbClr val="595959"/>
                </a:solidFill>
                <a:latin typeface="Microsoft YaHei"/>
                <a:ea typeface="Microsoft YaHei"/>
              </a:rPr>
              <a:t>动态选择取货 Carter、Go2、楼梯、接货 Carter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04044" y="1417320"/>
            <a:ext cx="2087209" cy="1874519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04044" y="1417320"/>
            <a:ext cx="2087209" cy="82296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13772" y="1600200"/>
            <a:ext cx="186775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50" b="1">
                <a:solidFill>
                  <a:srgbClr val="000000"/>
                </a:solidFill>
                <a:latin typeface="Microsoft YaHei"/>
                <a:ea typeface="Microsoft YaHei"/>
              </a:rPr>
              <a:t>持久状态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13772" y="2194560"/>
            <a:ext cx="1867753" cy="9601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0">
                <a:solidFill>
                  <a:srgbClr val="595959"/>
                </a:solidFill>
                <a:latin typeface="Microsoft YaHei"/>
                <a:ea typeface="Microsoft YaHei"/>
              </a:rPr>
              <a:t>位置 / 楼层 / 累计距离 / 任务数 / 上一任务结果跨任务保留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555845" y="1417320"/>
            <a:ext cx="2087209" cy="1874519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555845" y="1417320"/>
            <a:ext cx="2087209" cy="82296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65573" y="1600200"/>
            <a:ext cx="186775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50" b="1">
                <a:solidFill>
                  <a:srgbClr val="000000"/>
                </a:solidFill>
                <a:latin typeface="Microsoft YaHei"/>
                <a:ea typeface="Microsoft YaHei"/>
              </a:rPr>
              <a:t>task_reset 局部清理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65573" y="2194560"/>
            <a:ext cx="1867753" cy="9601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0">
                <a:solidFill>
                  <a:srgbClr val="595959"/>
                </a:solidFill>
                <a:latin typeface="Microsoft YaHei"/>
                <a:ea typeface="Microsoft YaHei"/>
              </a:rPr>
              <a:t>只清理本任务状态，机器人不整体回到初始位置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3456431"/>
            <a:ext cx="2087209" cy="1874519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48640" y="3456431"/>
            <a:ext cx="2087209" cy="82296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8368" y="3639311"/>
            <a:ext cx="186775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50" b="1">
                <a:solidFill>
                  <a:srgbClr val="000000"/>
                </a:solidFill>
                <a:latin typeface="Microsoft YaHei"/>
                <a:ea typeface="Microsoft YaHei"/>
              </a:rPr>
              <a:t>唯一空闲泊位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4233671"/>
            <a:ext cx="1867753" cy="9601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0">
                <a:solidFill>
                  <a:srgbClr val="595959"/>
                </a:solidFill>
                <a:latin typeface="Microsoft YaHei"/>
                <a:ea typeface="Microsoft YaHei"/>
              </a:rPr>
              <a:t>同楼层、同类型且互不重叠的最近空闲泊位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800441" y="3456431"/>
            <a:ext cx="2087209" cy="1874519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800441" y="3456431"/>
            <a:ext cx="2087209" cy="82296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910169" y="3639311"/>
            <a:ext cx="186775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50" b="1">
                <a:solidFill>
                  <a:srgbClr val="000000"/>
                </a:solidFill>
                <a:latin typeface="Microsoft YaHei"/>
                <a:ea typeface="Microsoft YaHei"/>
              </a:rPr>
              <a:t>动作掩码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910169" y="4233671"/>
            <a:ext cx="1867753" cy="9601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0">
                <a:solidFill>
                  <a:srgbClr val="595959"/>
                </a:solidFill>
                <a:latin typeface="Microsoft YaHei"/>
                <a:ea typeface="Microsoft YaHei"/>
              </a:rPr>
              <a:t>拒绝错误楼层 / 类型 / 忙碌 / 故障 / 已有任务 / 带货机器人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52242" y="3456431"/>
            <a:ext cx="2087209" cy="1874519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052242" y="3456431"/>
            <a:ext cx="2087209" cy="82296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161970" y="3639311"/>
            <a:ext cx="186775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50" b="1">
                <a:solidFill>
                  <a:srgbClr val="000000"/>
                </a:solidFill>
                <a:latin typeface="Microsoft YaHei"/>
                <a:ea typeface="Microsoft YaHei"/>
              </a:rPr>
              <a:t>资源占用 / 释放审计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61970" y="4233671"/>
            <a:ext cx="1867753" cy="9601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0">
                <a:solidFill>
                  <a:srgbClr val="595959"/>
                </a:solidFill>
                <a:latin typeface="Microsoft YaHei"/>
                <a:ea typeface="Microsoft YaHei"/>
              </a:rPr>
              <a:t>区域、交接点、楼梯真实占用与释放事件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304044" y="3456431"/>
            <a:ext cx="2087209" cy="1874519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304044" y="3456431"/>
            <a:ext cx="2087209" cy="82296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413772" y="3639311"/>
            <a:ext cx="186775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50" b="1">
                <a:solidFill>
                  <a:srgbClr val="000000"/>
                </a:solidFill>
                <a:latin typeface="Microsoft YaHei"/>
                <a:ea typeface="Microsoft YaHei"/>
              </a:rPr>
              <a:t>SMDP 回报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413772" y="4233671"/>
            <a:ext cx="1867753" cy="9601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0">
                <a:solidFill>
                  <a:srgbClr val="595959"/>
                </a:solidFill>
                <a:latin typeface="Microsoft YaHei"/>
                <a:ea typeface="Microsoft YaHei"/>
              </a:rPr>
              <a:t>按异步任务实际到达时刻积分未完成任务时间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555845" y="3456431"/>
            <a:ext cx="2087209" cy="1874519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9555845" y="3456431"/>
            <a:ext cx="2087209" cy="82296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665573" y="3639311"/>
            <a:ext cx="186775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50" b="1">
                <a:solidFill>
                  <a:srgbClr val="000000"/>
                </a:solidFill>
                <a:latin typeface="Microsoft YaHei"/>
                <a:ea typeface="Microsoft YaHei"/>
              </a:rPr>
              <a:t>完整决策记录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665573" y="4233671"/>
            <a:ext cx="1867753" cy="9601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0">
                <a:solidFill>
                  <a:srgbClr val="595959"/>
                </a:solidFill>
                <a:latin typeface="Microsoft YaHei"/>
                <a:ea typeface="Microsoft YaHei"/>
              </a:rPr>
              <a:t>state / action / mask / reward / next_state / terminated 全保存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8640" y="5715000"/>
            <a:ext cx="1109441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00000"/>
                </a:solidFill>
                <a:latin typeface="Microsoft YaHei"/>
                <a:ea typeface="Microsoft YaHei"/>
              </a:rPr>
              <a:t>回报要点：</a:t>
            </a:r>
            <a:r>
              <a:rPr sz="1400" b="0">
                <a:solidFill>
                  <a:srgbClr val="1F1F1F"/>
                </a:solidFill>
                <a:latin typeface="Microsoft YaHei"/>
                <a:ea typeface="Microsoft YaHei"/>
              </a:rPr>
              <a:t>按异步任务的实际到达时刻积分未完成任务时间作为 SMDP 回报。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595959"/>
                </a:solidFill>
                <a:latin typeface="Microsoft YaHei"/>
                <a:ea typeface="Microsoft YaHei"/>
              </a:rPr>
              <a:t>双层仓储异构机器人协作运输 · 2026-08-06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1">
                <a:solidFill>
                  <a:srgbClr val="595959"/>
                </a:solidFill>
                <a:latin typeface="Microsoft YaHei"/>
                <a:ea typeface="Microsoft YaHei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57200"/>
            <a:ext cx="146304" cy="47548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9536" y="384048"/>
            <a:ext cx="914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595959"/>
                </a:solidFill>
                <a:latin typeface="Microsoft YaHei"/>
                <a:ea typeface="Microsoft YaHei"/>
              </a:rP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73936" y="384048"/>
            <a:ext cx="986911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600" b="1">
                <a:solidFill>
                  <a:srgbClr val="000000"/>
                </a:solidFill>
                <a:latin typeface="Microsoft YaHei"/>
                <a:ea typeface="Microsoft YaHei"/>
              </a:rPr>
              <a:t>阶段 11 正式验收结果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73936" y="896112"/>
            <a:ext cx="986911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595959"/>
                </a:solidFill>
                <a:latin typeface="Microsoft YaHei"/>
                <a:ea typeface="Microsoft YaHei"/>
              </a:rPr>
              <a:t>medium 到达负载 · 固定种子 20260805 · 同种子完整运行两遍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280160"/>
            <a:ext cx="11094415" cy="2794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991295" y="457200"/>
            <a:ext cx="2651760" cy="292608"/>
          </a:xfrm>
          <a:prstGeom prst="round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36576" bIns="36576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</a:rPr>
              <a:t>阶段11纯逻辑环境正式验收通过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371600"/>
            <a:ext cx="3576218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371600"/>
            <a:ext cx="82296" cy="105156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1463040"/>
            <a:ext cx="33018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2E8B57"/>
                </a:solidFill>
                <a:latin typeface="Microsoft YaHei"/>
                <a:ea typeface="Microsoft YaHei"/>
              </a:rPr>
              <a:t>20 / 20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2029968"/>
            <a:ext cx="330189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1F1F1F"/>
                </a:solidFill>
                <a:latin typeface="Microsoft YaHei"/>
                <a:ea typeface="Microsoft YaHei"/>
              </a:rPr>
              <a:t>连续任务 PASS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07738" y="1371600"/>
            <a:ext cx="3576218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07738" y="1371600"/>
            <a:ext cx="82296" cy="105156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08906" y="1463040"/>
            <a:ext cx="33018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2E8B57"/>
                </a:solidFill>
                <a:latin typeface="Microsoft YaHei"/>
                <a:ea typeface="Microsoft YaHei"/>
              </a:rPr>
              <a:t>17 / 17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08906" y="2029968"/>
            <a:ext cx="330189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1F1F1F"/>
                </a:solidFill>
                <a:latin typeface="Microsoft YaHei"/>
                <a:ea typeface="Microsoft YaHei"/>
              </a:rPr>
              <a:t>核心自动测试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66836" y="1371600"/>
            <a:ext cx="3576218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66836" y="1371600"/>
            <a:ext cx="82296" cy="105156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68004" y="1463040"/>
            <a:ext cx="33018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2E8B57"/>
                </a:solidFill>
                <a:latin typeface="Microsoft YaHei"/>
                <a:ea typeface="Microsoft YaHei"/>
              </a:rPr>
              <a:t>14 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68004" y="2029968"/>
            <a:ext cx="330189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1F1F1F"/>
                </a:solidFill>
                <a:latin typeface="Microsoft YaHei"/>
                <a:ea typeface="Microsoft YaHei"/>
              </a:rPr>
              <a:t>动态协作组合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2569464"/>
            <a:ext cx="3576218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8640" y="2569464"/>
            <a:ext cx="82296" cy="105156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9808" y="2660904"/>
            <a:ext cx="33018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2E8B57"/>
                </a:solidFill>
                <a:latin typeface="Microsoft YaHei"/>
                <a:ea typeface="Microsoft YaHei"/>
              </a:rPr>
              <a:t>40 / 40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8" y="3227832"/>
            <a:ext cx="330189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1F1F1F"/>
                </a:solidFill>
                <a:latin typeface="Microsoft YaHei"/>
                <a:ea typeface="Microsoft YaHei"/>
              </a:rPr>
              <a:t>非法动作被拒绝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07738" y="2569464"/>
            <a:ext cx="3576218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307738" y="2569464"/>
            <a:ext cx="82296" cy="105156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08906" y="2660904"/>
            <a:ext cx="33018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2E8B57"/>
                </a:solidFill>
                <a:latin typeface="Microsoft YaHei"/>
                <a:ea typeface="Microsoft YaHei"/>
              </a:rPr>
              <a:t>120 条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08906" y="3227832"/>
            <a:ext cx="330189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1F1F1F"/>
                </a:solidFill>
                <a:latin typeface="Microsoft YaHei"/>
                <a:ea typeface="Microsoft YaHei"/>
              </a:rPr>
              <a:t>资源占用/释放事件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66836" y="2569464"/>
            <a:ext cx="3576218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066836" y="2569464"/>
            <a:ext cx="82296" cy="105156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68004" y="2660904"/>
            <a:ext cx="33018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2E8B57"/>
                </a:solidFill>
                <a:latin typeface="Microsoft YaHei"/>
                <a:ea typeface="Microsoft YaHei"/>
              </a:rPr>
              <a:t>0 残留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68004" y="3227832"/>
            <a:ext cx="330189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1F1F1F"/>
                </a:solidFill>
                <a:latin typeface="Microsoft YaHei"/>
                <a:ea typeface="Microsoft YaHei"/>
              </a:rPr>
              <a:t>资源/货物/任务/位置重叠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3977639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00000"/>
                </a:solidFill>
                <a:latin typeface="Microsoft YaHei"/>
                <a:ea typeface="Microsoft YaHei"/>
              </a:rPr>
              <a:t>四类任务：各 5 次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" y="4389119"/>
            <a:ext cx="2636443" cy="822960"/>
          </a:xfrm>
          <a:prstGeom prst="rect">
            <a:avLst/>
          </a:prstGeom>
          <a:solidFill>
            <a:srgbClr val="F2F2F2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36576" bIns="36576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250" b="0">
                <a:solidFill>
                  <a:srgbClr val="1F1F1F"/>
                </a:solidFill>
                <a:latin typeface="Microsoft YaHei"/>
                <a:ea typeface="Microsoft YaHei"/>
              </a:rPr>
              <a:t>一楼同层</a:t>
            </a:r>
          </a:p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</a:rPr>
              <a:t>5 次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367963" y="4389119"/>
            <a:ext cx="2636443" cy="822960"/>
          </a:xfrm>
          <a:prstGeom prst="rect">
            <a:avLst/>
          </a:prstGeom>
          <a:solidFill>
            <a:srgbClr val="F2F2F2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36576" bIns="36576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250" b="0">
                <a:solidFill>
                  <a:srgbClr val="1F1F1F"/>
                </a:solidFill>
                <a:latin typeface="Microsoft YaHei"/>
                <a:ea typeface="Microsoft YaHei"/>
              </a:rPr>
              <a:t>二楼同层</a:t>
            </a:r>
          </a:p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</a:rPr>
              <a:t>5 次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87287" y="4389119"/>
            <a:ext cx="2636443" cy="822960"/>
          </a:xfrm>
          <a:prstGeom prst="rect">
            <a:avLst/>
          </a:prstGeom>
          <a:solidFill>
            <a:srgbClr val="F2F2F2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36576" bIns="36576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250" b="0">
                <a:solidFill>
                  <a:srgbClr val="1F1F1F"/>
                </a:solidFill>
                <a:latin typeface="Microsoft YaHei"/>
                <a:ea typeface="Microsoft YaHei"/>
              </a:rPr>
              <a:t>跨层上行</a:t>
            </a:r>
          </a:p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</a:rPr>
              <a:t>5 次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006611" y="4389119"/>
            <a:ext cx="2636443" cy="822960"/>
          </a:xfrm>
          <a:prstGeom prst="rect">
            <a:avLst/>
          </a:prstGeom>
          <a:solidFill>
            <a:srgbClr val="F2F2F2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36576" bIns="36576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250" b="0">
                <a:solidFill>
                  <a:srgbClr val="1F1F1F"/>
                </a:solidFill>
                <a:latin typeface="Microsoft YaHei"/>
                <a:ea typeface="Microsoft YaHei"/>
              </a:rPr>
              <a:t>跨层下行</a:t>
            </a:r>
          </a:p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</a:rPr>
              <a:t>5 次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5486400"/>
            <a:ext cx="1109441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595959"/>
                </a:solidFill>
                <a:latin typeface="Microsoft YaHei"/>
                <a:ea typeface="Microsoft YaHei"/>
              </a:rPr>
              <a:t>仿真总时间 1408.04s · 平均任务时长 70.00s · 平均等待 296.22s · 队列峰值 10 · 同种子重放完全一致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595959"/>
                </a:solidFill>
                <a:latin typeface="Microsoft YaHei"/>
                <a:ea typeface="Microsoft YaHei"/>
              </a:rPr>
              <a:t>双层仓储异构机器人协作运输 · 2026-08-06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1">
                <a:solidFill>
                  <a:srgbClr val="595959"/>
                </a:solidFill>
                <a:latin typeface="Microsoft YaHei"/>
                <a:ea typeface="Microsoft YaHei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57200"/>
            <a:ext cx="146304" cy="47548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9536" y="384048"/>
            <a:ext cx="914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595959"/>
                </a:solidFill>
                <a:latin typeface="Microsoft YaHei"/>
                <a:ea typeface="Microsoft YaHei"/>
              </a:rPr>
              <a:t>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73936" y="384048"/>
            <a:ext cx="986911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600" b="1">
                <a:solidFill>
                  <a:srgbClr val="000000"/>
                </a:solidFill>
                <a:latin typeface="Microsoft YaHei"/>
                <a:ea typeface="Microsoft YaHei"/>
              </a:rPr>
              <a:t>机器人状态持续与泊位策略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73936" y="896112"/>
            <a:ext cx="986911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595959"/>
                </a:solidFill>
                <a:latin typeface="Microsoft YaHei"/>
                <a:ea typeface="Microsoft YaHei"/>
              </a:rPr>
              <a:t>任务结束位置 → 最近空闲泊位 → 下一任务从该位置继续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280160"/>
            <a:ext cx="11094415" cy="2794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828800"/>
            <a:ext cx="3027578" cy="1554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36576" bIns="36576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500" b="1">
                <a:solidFill>
                  <a:srgbClr val="000000"/>
                </a:solidFill>
                <a:latin typeface="Microsoft YaHei"/>
                <a:ea typeface="Microsoft YaHei"/>
              </a:rPr>
              <a:t>任务结束</a:t>
            </a: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150" b="0">
                <a:solidFill>
                  <a:srgbClr val="1F1F1F"/>
                </a:solidFill>
                <a:latin typeface="Microsoft YaHei"/>
                <a:ea typeface="Microsoft YaHei"/>
              </a:rPr>
              <a:t>当前任务完成
位置 / 状态保留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621938" y="2404872"/>
            <a:ext cx="914400" cy="402336"/>
          </a:xfrm>
          <a:prstGeom prst="rightArrow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82058" y="1828800"/>
            <a:ext cx="3027578" cy="1554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36576" bIns="36576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500" b="1">
                <a:solidFill>
                  <a:srgbClr val="000000"/>
                </a:solidFill>
                <a:latin typeface="Microsoft YaHei"/>
                <a:ea typeface="Microsoft YaHei"/>
              </a:rPr>
              <a:t>最近空闲泊位</a:t>
            </a: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150" b="0">
                <a:solidFill>
                  <a:srgbClr val="1F1F1F"/>
                </a:solidFill>
                <a:latin typeface="Microsoft YaHei"/>
                <a:ea typeface="Microsoft YaHei"/>
              </a:rPr>
              <a:t>同楼层同类型
互不重叠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7655356" y="2404872"/>
            <a:ext cx="914400" cy="402336"/>
          </a:xfrm>
          <a:prstGeom prst="rightArrow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615476" y="1828800"/>
            <a:ext cx="3027578" cy="1554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36576" bIns="36576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500" b="1">
                <a:solidFill>
                  <a:srgbClr val="000000"/>
                </a:solidFill>
                <a:latin typeface="Microsoft YaHei"/>
                <a:ea typeface="Microsoft YaHei"/>
              </a:rPr>
              <a:t>下一任务</a:t>
            </a: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150" b="0">
                <a:solidFill>
                  <a:srgbClr val="1F1F1F"/>
                </a:solidFill>
                <a:latin typeface="Microsoft YaHei"/>
                <a:ea typeface="Microsoft YaHei"/>
              </a:rPr>
              <a:t>从上一任务结束的
真实逻辑状态继续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977639"/>
            <a:ext cx="3545738" cy="1554480"/>
          </a:xfrm>
          <a:prstGeom prst="rect">
            <a:avLst/>
          </a:prstGeom>
          <a:solidFill>
            <a:srgbClr val="F2F2F2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4114800"/>
            <a:ext cx="327141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00000"/>
                </a:solidFill>
                <a:latin typeface="Microsoft YaHei"/>
                <a:ea typeface="Microsoft YaHei"/>
              </a:rPr>
              <a:t>不重置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4526280"/>
            <a:ext cx="3271418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150" b="0">
                <a:solidFill>
                  <a:srgbClr val="1F1F1F"/>
                </a:solidFill>
                <a:latin typeface="Microsoft YaHei"/>
                <a:ea typeface="Microsoft YaHei"/>
              </a:rPr>
              <a:t>task_reset 只清理本任务状态，机器人不整体回到初始位置。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22978" y="3977639"/>
            <a:ext cx="3545738" cy="1554480"/>
          </a:xfrm>
          <a:prstGeom prst="rect">
            <a:avLst/>
          </a:prstGeom>
          <a:solidFill>
            <a:srgbClr val="F2F2F2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60138" y="4114800"/>
            <a:ext cx="327141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00000"/>
                </a:solidFill>
                <a:latin typeface="Microsoft YaHei"/>
                <a:ea typeface="Microsoft YaHei"/>
              </a:rPr>
              <a:t>泊位唯一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60138" y="4526280"/>
            <a:ext cx="3271418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150" b="0">
                <a:solidFill>
                  <a:srgbClr val="1F1F1F"/>
                </a:solidFill>
                <a:latin typeface="Microsoft YaHei"/>
                <a:ea typeface="Microsoft YaHei"/>
              </a:rPr>
              <a:t>泊位在逻辑层保证唯一且互不重叠，20 任务门禁证明无相同最终坐标。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97316" y="3977639"/>
            <a:ext cx="3545738" cy="1554480"/>
          </a:xfrm>
          <a:prstGeom prst="rect">
            <a:avLst/>
          </a:prstGeom>
          <a:solidFill>
            <a:srgbClr val="F2F2F2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34476" y="4114800"/>
            <a:ext cx="327141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00000"/>
                </a:solidFill>
                <a:latin typeface="Microsoft YaHei"/>
                <a:ea typeface="Microsoft YaHei"/>
              </a:rPr>
              <a:t>作业点及时释放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34476" y="4526280"/>
            <a:ext cx="3271418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150" b="0">
                <a:solidFill>
                  <a:srgbClr val="1F1F1F"/>
                </a:solidFill>
                <a:latin typeface="Microsoft YaHei"/>
                <a:ea typeface="Microsoft YaHei"/>
              </a:rPr>
              <a:t>完成任务后进入泊位，作业区 / 交接点 / 楼梯资源及时释放。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5760720"/>
            <a:ext cx="3108960" cy="292608"/>
          </a:xfrm>
          <a:prstGeom prst="round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36576" bIns="36576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注意：逻辑泊位 ≠ Gazebo 物理验收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595959"/>
                </a:solidFill>
                <a:latin typeface="Microsoft YaHei"/>
                <a:ea typeface="Microsoft YaHei"/>
              </a:rPr>
              <a:t>双层仓储异构机器人协作运输 · 2026-08-06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1">
                <a:solidFill>
                  <a:srgbClr val="595959"/>
                </a:solidFill>
                <a:latin typeface="Microsoft YaHei"/>
                <a:ea typeface="Microsoft YaHei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57200"/>
            <a:ext cx="146304" cy="47548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9536" y="384048"/>
            <a:ext cx="914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595959"/>
                </a:solidFill>
                <a:latin typeface="Microsoft YaHei"/>
                <a:ea typeface="Microsoft YaHei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73936" y="384048"/>
            <a:ext cx="986911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600" b="1">
                <a:solidFill>
                  <a:srgbClr val="000000"/>
                </a:solidFill>
                <a:latin typeface="Microsoft YaHei"/>
                <a:ea typeface="Microsoft YaHei"/>
              </a:rPr>
              <a:t>主要问题 · Medium 负载下等待时间较长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73936" y="896112"/>
            <a:ext cx="986911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595959"/>
                </a:solidFill>
                <a:latin typeface="Microsoft YaHei"/>
                <a:ea typeface="Microsoft YaHei"/>
              </a:rPr>
              <a:t>当前最重要性能问题，但非死锁、非任务卡死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280160"/>
            <a:ext cx="11094415" cy="2794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905695" y="457200"/>
            <a:ext cx="1737360" cy="292608"/>
          </a:xfrm>
          <a:prstGeom prst="round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36576" bIns="36576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</a:rPr>
              <a:t>性能瓶颈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371600"/>
            <a:ext cx="2602153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371600"/>
            <a:ext cx="2602153" cy="82296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554480"/>
            <a:ext cx="232783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B8860B"/>
                </a:solidFill>
                <a:latin typeface="Microsoft YaHei"/>
                <a:ea typeface="Microsoft YaHei"/>
              </a:rPr>
              <a:t>296.22 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194560"/>
            <a:ext cx="232783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1F1F1F"/>
                </a:solidFill>
                <a:latin typeface="Microsoft YaHei"/>
                <a:ea typeface="Microsoft YaHei"/>
              </a:rPr>
              <a:t>平均等待时间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79393" y="1371600"/>
            <a:ext cx="2602153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79393" y="1371600"/>
            <a:ext cx="2602153" cy="82296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16553" y="1554480"/>
            <a:ext cx="232783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B8860B"/>
                </a:solidFill>
                <a:latin typeface="Microsoft YaHei"/>
                <a:ea typeface="Microsoft YaHei"/>
              </a:rPr>
              <a:t>558.29 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16553" y="2194560"/>
            <a:ext cx="232783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1F1F1F"/>
                </a:solidFill>
                <a:latin typeface="Microsoft YaHei"/>
                <a:ea typeface="Microsoft YaHei"/>
              </a:rPr>
              <a:t>P95 等待时间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0147" y="1371600"/>
            <a:ext cx="2602153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0147" y="1371600"/>
            <a:ext cx="2602153" cy="82296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47307" y="1554480"/>
            <a:ext cx="232783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B8860B"/>
                </a:solidFill>
                <a:latin typeface="Microsoft YaHei"/>
                <a:ea typeface="Microsoft YaHei"/>
              </a:rPr>
              <a:t>782.36 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47307" y="2194560"/>
            <a:ext cx="232783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1F1F1F"/>
                </a:solidFill>
                <a:latin typeface="Microsoft YaHei"/>
                <a:ea typeface="Microsoft YaHei"/>
              </a:rPr>
              <a:t>最大等待时间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40901" y="1371600"/>
            <a:ext cx="2602153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040901" y="1371600"/>
            <a:ext cx="2602153" cy="82296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78061" y="1554480"/>
            <a:ext cx="232783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B8860B"/>
                </a:solidFill>
                <a:latin typeface="Microsoft YaHei"/>
                <a:ea typeface="Microsoft YaHei"/>
              </a:rPr>
              <a:t>10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78061" y="2194560"/>
            <a:ext cx="232783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1F1F1F"/>
                </a:solidFill>
                <a:latin typeface="Microsoft YaHei"/>
                <a:ea typeface="Microsoft YaHei"/>
              </a:rPr>
              <a:t>队列峰值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292608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00000"/>
                </a:solidFill>
                <a:latin typeface="Microsoft YaHei"/>
                <a:ea typeface="Microsoft YaHei"/>
              </a:rPr>
              <a:t>原因判断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3291840"/>
            <a:ext cx="5669280" cy="2540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3474720"/>
            <a:ext cx="566928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900"/>
              </a:spcAft>
            </a:pPr>
            <a:r>
              <a:rPr sz="1300" b="1">
                <a:solidFill>
                  <a:srgbClr val="595959"/>
                </a:solidFill>
                <a:latin typeface="Microsoft YaHei"/>
                <a:ea typeface="Microsoft YaHei"/>
              </a:rPr>
              <a:t>• </a:t>
            </a:r>
            <a:r>
              <a:rPr sz="1300" b="0">
                <a:solidFill>
                  <a:srgbClr val="000000"/>
                </a:solidFill>
                <a:latin typeface="Microsoft YaHei"/>
                <a:ea typeface="Microsoft YaHei"/>
              </a:rPr>
              <a:t>阶段 11 一次只实际执行一条完整运输链（串行）</a:t>
            </a:r>
          </a:p>
          <a:p>
            <a:pPr algn="l">
              <a:lnSpc>
                <a:spcPct val="115000"/>
              </a:lnSpc>
              <a:spcAft>
                <a:spcPts val="900"/>
              </a:spcAft>
            </a:pPr>
            <a:r>
              <a:rPr sz="1300" b="1">
                <a:solidFill>
                  <a:srgbClr val="595959"/>
                </a:solidFill>
                <a:latin typeface="Microsoft YaHei"/>
                <a:ea typeface="Microsoft YaHei"/>
              </a:rPr>
              <a:t>• </a:t>
            </a:r>
            <a:r>
              <a:rPr sz="1300" b="0">
                <a:solidFill>
                  <a:srgbClr val="000000"/>
                </a:solidFill>
                <a:latin typeface="Microsoft YaHei"/>
                <a:ea typeface="Microsoft YaHei"/>
              </a:rPr>
              <a:t>平均服务约 70s，而 medium 任务到达间隔 30~50s</a:t>
            </a:r>
          </a:p>
          <a:p>
            <a:pPr algn="l">
              <a:lnSpc>
                <a:spcPct val="115000"/>
              </a:lnSpc>
              <a:spcAft>
                <a:spcPts val="900"/>
              </a:spcAft>
            </a:pPr>
            <a:r>
              <a:rPr sz="1300" b="1">
                <a:solidFill>
                  <a:srgbClr val="595959"/>
                </a:solidFill>
                <a:latin typeface="Microsoft YaHei"/>
                <a:ea typeface="Microsoft YaHei"/>
              </a:rPr>
              <a:t>• </a:t>
            </a:r>
            <a:r>
              <a:rPr sz="1300" b="0">
                <a:solidFill>
                  <a:srgbClr val="000000"/>
                </a:solidFill>
                <a:latin typeface="Microsoft YaHei"/>
                <a:ea typeface="Microsoft YaHei"/>
              </a:rPr>
              <a:t>服务能力 &lt; 到达速度 → 等待任务逐渐积累</a:t>
            </a:r>
          </a:p>
          <a:p>
            <a:pPr algn="l">
              <a:lnSpc>
                <a:spcPct val="115000"/>
              </a:lnSpc>
              <a:spcAft>
                <a:spcPts val="900"/>
              </a:spcAft>
            </a:pPr>
            <a:r>
              <a:rPr sz="1300" b="1">
                <a:solidFill>
                  <a:srgbClr val="595959"/>
                </a:solidFill>
                <a:latin typeface="Microsoft YaHei"/>
                <a:ea typeface="Microsoft YaHei"/>
              </a:rPr>
              <a:t>• </a:t>
            </a:r>
            <a:r>
              <a:rPr sz="1300" b="0">
                <a:solidFill>
                  <a:srgbClr val="000000"/>
                </a:solidFill>
                <a:latin typeface="Microsoft YaHei"/>
                <a:ea typeface="Microsoft YaHei"/>
              </a:rPr>
              <a:t>任务时长含送达后离开作业区进入泊位的时间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92240" y="3291840"/>
            <a:ext cx="5120640" cy="2194560"/>
          </a:xfrm>
          <a:prstGeom prst="rect">
            <a:avLst/>
          </a:prstGeom>
          <a:solidFill>
            <a:srgbClr val="F2F2F2"/>
          </a:solidFill>
          <a:ln w="12700">
            <a:solidFill>
              <a:srgbClr val="B886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36576" bIns="36576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500" b="1">
                <a:solidFill>
                  <a:srgbClr val="B8860B"/>
                </a:solidFill>
                <a:latin typeface="Microsoft YaHei"/>
                <a:ea typeface="Microsoft YaHei"/>
              </a:rPr>
              <a:t>结论</a:t>
            </a:r>
          </a:p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300" b="0">
                <a:solidFill>
                  <a:srgbClr val="1F1F1F"/>
                </a:solidFill>
                <a:latin typeface="Microsoft YaHei"/>
                <a:ea typeface="Microsoft YaHei"/>
              </a:rPr>
              <a:t>• 不能靠缩短任务发布器间隔改善等待；</a:t>
            </a:r>
          </a:p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300" b="0">
                <a:solidFill>
                  <a:srgbClr val="1F1F1F"/>
                </a:solidFill>
                <a:latin typeface="Microsoft YaHei"/>
                <a:ea typeface="Microsoft YaHei"/>
              </a:rPr>
              <a:t>• 应由调度策略优化机器人与楼梯选择；</a:t>
            </a:r>
          </a:p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300" b="0">
                <a:solidFill>
                  <a:srgbClr val="1F1F1F"/>
                </a:solidFill>
                <a:latin typeface="Microsoft YaHei"/>
                <a:ea typeface="Microsoft YaHei"/>
              </a:rPr>
              <a:t>• 单任务策略稳定后，评估有限并发 / 泊位异步化 / 服务链拆分。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5806440"/>
            <a:ext cx="110944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595959"/>
                </a:solidFill>
                <a:latin typeface="Microsoft YaHei"/>
                <a:ea typeface="Microsoft YaHei"/>
              </a:rPr>
              <a:t>示意：任务到达速度（30~50s）快于串行服务速度（≈70s）→ 队列积累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595959"/>
                </a:solidFill>
                <a:latin typeface="Microsoft YaHei"/>
                <a:ea typeface="Microsoft YaHei"/>
              </a:rPr>
              <a:t>双层仓储异构机器人协作运输 · 2026-08-06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1">
                <a:solidFill>
                  <a:srgbClr val="595959"/>
                </a:solidFill>
                <a:latin typeface="Microsoft YaHei"/>
                <a:ea typeface="Microsoft YaHe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57200"/>
            <a:ext cx="146304" cy="47548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9536" y="384048"/>
            <a:ext cx="914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595959"/>
                </a:solidFill>
                <a:latin typeface="Microsoft YaHei"/>
                <a:ea typeface="Microsoft YaHei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73936" y="384048"/>
            <a:ext cx="986911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600" b="1">
                <a:solidFill>
                  <a:srgbClr val="000000"/>
                </a:solidFill>
                <a:latin typeface="Microsoft YaHei"/>
                <a:ea typeface="Microsoft YaHei"/>
              </a:rPr>
              <a:t>为什么需要强化学习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73936" y="896112"/>
            <a:ext cx="986911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595959"/>
                </a:solidFill>
                <a:latin typeface="Microsoft YaHei"/>
                <a:ea typeface="Microsoft YaHei"/>
              </a:rPr>
              <a:t>楼梯选择存在真实的全局权衡，规则难以全局优化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280160"/>
            <a:ext cx="11094415" cy="2794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32588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00000"/>
                </a:solidFill>
                <a:latin typeface="Microsoft YaHei"/>
                <a:ea typeface="Microsoft YaHei"/>
              </a:rPr>
              <a:t>跨层任务示例：同一任务，两种楼梯选择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783080"/>
            <a:ext cx="5410047" cy="4572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36576" bIns="36576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</a:rPr>
              <a:t>方案 A · 取货侧近的楼梯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377440"/>
            <a:ext cx="5227167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250" b="1">
                <a:solidFill>
                  <a:srgbClr val="595959"/>
                </a:solidFill>
                <a:latin typeface="Microsoft YaHei"/>
                <a:ea typeface="Microsoft YaHei"/>
              </a:rPr>
              <a:t>• </a:t>
            </a:r>
            <a:r>
              <a:rPr sz="1250" b="0">
                <a:solidFill>
                  <a:srgbClr val="000000"/>
                </a:solidFill>
                <a:latin typeface="Microsoft YaHei"/>
                <a:ea typeface="Microsoft YaHei"/>
              </a:rPr>
              <a:t>取货 Carter 到交接点距离短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250" b="1">
                <a:solidFill>
                  <a:srgbClr val="595959"/>
                </a:solidFill>
                <a:latin typeface="Microsoft YaHei"/>
                <a:ea typeface="Microsoft YaHei"/>
              </a:rPr>
              <a:t>• </a:t>
            </a:r>
            <a:r>
              <a:rPr sz="1250" b="0">
                <a:solidFill>
                  <a:srgbClr val="000000"/>
                </a:solidFill>
                <a:latin typeface="Microsoft YaHei"/>
                <a:ea typeface="Microsoft YaHei"/>
              </a:rPr>
              <a:t>但目标楼层 Carter 到接收点的运输距离更长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250" b="1">
                <a:solidFill>
                  <a:srgbClr val="595959"/>
                </a:solidFill>
                <a:latin typeface="Microsoft YaHei"/>
                <a:ea typeface="Microsoft YaHei"/>
              </a:rPr>
              <a:t>• </a:t>
            </a:r>
            <a:r>
              <a:rPr sz="1250" b="0">
                <a:solidFill>
                  <a:srgbClr val="000000"/>
                </a:solidFill>
                <a:latin typeface="Microsoft YaHei"/>
                <a:ea typeface="Microsoft YaHei"/>
              </a:rPr>
              <a:t>总完成时间不一定最短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33007" y="1783080"/>
            <a:ext cx="5410047" cy="4572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36576" bIns="36576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</a:rPr>
              <a:t>方案 B · 目标侧近的楼梯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24447" y="2377440"/>
            <a:ext cx="5227167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250" b="1">
                <a:solidFill>
                  <a:srgbClr val="595959"/>
                </a:solidFill>
                <a:latin typeface="Microsoft YaHei"/>
                <a:ea typeface="Microsoft YaHei"/>
              </a:rPr>
              <a:t>• </a:t>
            </a:r>
            <a:r>
              <a:rPr sz="1250" b="0">
                <a:solidFill>
                  <a:srgbClr val="000000"/>
                </a:solidFill>
                <a:latin typeface="Microsoft YaHei"/>
                <a:ea typeface="Microsoft YaHei"/>
              </a:rPr>
              <a:t>目标侧 Carter 距离更短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250" b="1">
                <a:solidFill>
                  <a:srgbClr val="595959"/>
                </a:solidFill>
                <a:latin typeface="Microsoft YaHei"/>
                <a:ea typeface="Microsoft YaHei"/>
              </a:rPr>
              <a:t>• </a:t>
            </a:r>
            <a:r>
              <a:rPr sz="1250" b="0">
                <a:solidFill>
                  <a:srgbClr val="000000"/>
                </a:solidFill>
                <a:latin typeface="Microsoft YaHei"/>
                <a:ea typeface="Microsoft YaHei"/>
              </a:rPr>
              <a:t>但取货侧 / Go2 空驶成本更高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250" b="1">
                <a:solidFill>
                  <a:srgbClr val="595959"/>
                </a:solidFill>
                <a:latin typeface="Microsoft YaHei"/>
                <a:ea typeface="Microsoft YaHei"/>
              </a:rPr>
              <a:t>• </a:t>
            </a:r>
            <a:r>
              <a:rPr sz="1250" b="0">
                <a:solidFill>
                  <a:srgbClr val="000000"/>
                </a:solidFill>
                <a:latin typeface="Microsoft YaHei"/>
                <a:ea typeface="Microsoft YaHei"/>
              </a:rPr>
              <a:t>取决于全局状态与未来负载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88620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00000"/>
                </a:solidFill>
                <a:latin typeface="Microsoft YaHei"/>
                <a:ea typeface="Microsoft YaHei"/>
              </a:rPr>
              <a:t>总成本 = 多层 Carter 距离 + Go2 空驶 + 楼梯占用 / 等待 + 接货运输 + 未来位置价值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297680"/>
            <a:ext cx="1109441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595959"/>
                </a:solidFill>
                <a:latin typeface="Microsoft YaHei"/>
                <a:ea typeface="Microsoft YaHei"/>
              </a:rPr>
              <a:t>• </a:t>
            </a:r>
            <a:r>
              <a:rPr sz="1300" b="0">
                <a:solidFill>
                  <a:srgbClr val="000000"/>
                </a:solidFill>
                <a:latin typeface="Microsoft YaHei"/>
                <a:ea typeface="Microsoft YaHei"/>
              </a:rPr>
              <a:t>取货 Carter 到货物 / 发送交接点的距离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595959"/>
                </a:solidFill>
                <a:latin typeface="Microsoft YaHei"/>
                <a:ea typeface="Microsoft YaHei"/>
              </a:rPr>
              <a:t>• </a:t>
            </a:r>
            <a:r>
              <a:rPr sz="1300" b="0">
                <a:solidFill>
                  <a:srgbClr val="000000"/>
                </a:solidFill>
                <a:latin typeface="Microsoft YaHei"/>
                <a:ea typeface="Microsoft YaHei"/>
              </a:rPr>
              <a:t>Go2 当前点到楼梯入口的空驶距离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595959"/>
                </a:solidFill>
                <a:latin typeface="Microsoft YaHei"/>
                <a:ea typeface="Microsoft YaHei"/>
              </a:rPr>
              <a:t>• </a:t>
            </a:r>
            <a:r>
              <a:rPr sz="1300" b="0">
                <a:solidFill>
                  <a:srgbClr val="000000"/>
                </a:solidFill>
                <a:latin typeface="Microsoft YaHei"/>
                <a:ea typeface="Microsoft YaHei"/>
              </a:rPr>
              <a:t>楼梯通过成本、占用状态与可能等待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595959"/>
                </a:solidFill>
                <a:latin typeface="Microsoft YaHei"/>
                <a:ea typeface="Microsoft YaHei"/>
              </a:rPr>
              <a:t>• </a:t>
            </a:r>
            <a:r>
              <a:rPr sz="1300" b="0">
                <a:solidFill>
                  <a:srgbClr val="000000"/>
                </a:solidFill>
                <a:latin typeface="Microsoft YaHei"/>
                <a:ea typeface="Microsoft YaHei"/>
              </a:rPr>
              <a:t>目标楼层 Carter 到接收点、接货后到目标平台的距离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595959"/>
                </a:solidFill>
                <a:latin typeface="Microsoft YaHei"/>
                <a:ea typeface="Microsoft YaHei"/>
              </a:rPr>
              <a:t>• </a:t>
            </a:r>
            <a:r>
              <a:rPr sz="1300" b="0">
                <a:solidFill>
                  <a:srgbClr val="000000"/>
                </a:solidFill>
                <a:latin typeface="Microsoft YaHei"/>
                <a:ea typeface="Microsoft YaHei"/>
              </a:rPr>
              <a:t>各机器人近期任务负载与未来位置价值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5486400"/>
            <a:ext cx="11094415" cy="868680"/>
          </a:xfrm>
          <a:prstGeom prst="rect">
            <a:avLst/>
          </a:prstGeom>
          <a:solidFill>
            <a:srgbClr val="F2F2F2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36576" bIns="36576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400" b="1">
                <a:solidFill>
                  <a:srgbClr val="1F6FB2"/>
                </a:solidFill>
                <a:latin typeface="Microsoft YaHei"/>
                <a:ea typeface="Microsoft YaHei"/>
              </a:rPr>
              <a:t>结论：</a:t>
            </a:r>
            <a:r>
              <a:rPr sz="1400" b="0">
                <a:solidFill>
                  <a:srgbClr val="1F1F1F"/>
                </a:solidFill>
                <a:latin typeface="Microsoft YaHei"/>
                <a:ea typeface="Microsoft YaHei"/>
              </a:rPr>
              <a:t>规则调度器可用，但难以针对长期等待、负载均衡与未来任务进行全局优化 —— 这正是阶段 12 / 强化学习要解决的问题，不能再用「象限对应固定楼梯」的规则。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595959"/>
                </a:solidFill>
                <a:latin typeface="Microsoft YaHei"/>
                <a:ea typeface="Microsoft YaHei"/>
              </a:rPr>
              <a:t>双层仓储异构机器人协作运输 · 2026-08-06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1">
                <a:solidFill>
                  <a:srgbClr val="595959"/>
                </a:solidFill>
                <a:latin typeface="Microsoft YaHei"/>
                <a:ea typeface="Microsoft YaHe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57200"/>
            <a:ext cx="146304" cy="47548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9536" y="384048"/>
            <a:ext cx="914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595959"/>
                </a:solidFill>
                <a:latin typeface="Microsoft YaHei"/>
                <a:ea typeface="Microsoft YaHei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73936" y="384048"/>
            <a:ext cx="986911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600" b="1">
                <a:solidFill>
                  <a:srgbClr val="000000"/>
                </a:solidFill>
                <a:latin typeface="Microsoft YaHei"/>
                <a:ea typeface="Microsoft YaHei"/>
              </a:rPr>
              <a:t>阶段 12 · 强化学习接口准备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73936" y="896112"/>
            <a:ext cx="986911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595959"/>
                </a:solidFill>
                <a:latin typeface="Microsoft YaHei"/>
                <a:ea typeface="Microsoft YaHei"/>
              </a:rPr>
              <a:t>把阶段 11 的可变结构状态与组合动作，转换为稳定、可学习、可测试的策略接口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280160"/>
            <a:ext cx="11094415" cy="2794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625535" y="457200"/>
            <a:ext cx="3017520" cy="292608"/>
          </a:xfrm>
          <a:prstGeom prst="round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36576" bIns="36576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</a:rPr>
              <a:t>接口准备，非直接训练 RL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463040"/>
            <a:ext cx="531860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00000"/>
                </a:solidFill>
                <a:latin typeface="Microsoft YaHei"/>
                <a:ea typeface="Microsoft YaHei"/>
              </a:rPr>
              <a:t>固定维度观测编码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828800"/>
            <a:ext cx="5318607" cy="2286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" y="1965960"/>
            <a:ext cx="5172303" cy="45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" b="0">
                <a:solidFill>
                  <a:srgbClr val="000000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1920240"/>
            <a:ext cx="5172303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00" b="1">
                <a:solidFill>
                  <a:srgbClr val="595959"/>
                </a:solidFill>
                <a:latin typeface="Microsoft YaHei"/>
                <a:ea typeface="Microsoft YaHei"/>
              </a:rPr>
              <a:t>▪ </a:t>
            </a:r>
            <a:r>
              <a:rPr sz="1200" b="0">
                <a:solidFill>
                  <a:srgbClr val="1F1F1F"/>
                </a:solidFill>
                <a:latin typeface="Microsoft YaHei"/>
                <a:ea typeface="Microsoft YaHei"/>
              </a:rPr>
              <a:t>任务槽位 K=8，不足补零并带 task_mask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00" b="1">
                <a:solidFill>
                  <a:srgbClr val="595959"/>
                </a:solidFill>
                <a:latin typeface="Microsoft YaHei"/>
                <a:ea typeface="Microsoft YaHei"/>
              </a:rPr>
              <a:t>▪ </a:t>
            </a:r>
            <a:r>
              <a:rPr sz="1200" b="0">
                <a:solidFill>
                  <a:srgbClr val="1F1F1F"/>
                </a:solidFill>
                <a:latin typeface="Microsoft YaHei"/>
                <a:ea typeface="Microsoft YaHei"/>
              </a:rPr>
              <a:t>固定机器人排列顺序，编码类型 / 楼层 / 位置 / 载货 / 故障 / 负载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00" b="1">
                <a:solidFill>
                  <a:srgbClr val="595959"/>
                </a:solidFill>
                <a:latin typeface="Microsoft YaHei"/>
                <a:ea typeface="Microsoft YaHei"/>
              </a:rPr>
              <a:t>▪ </a:t>
            </a:r>
            <a:r>
              <a:rPr sz="1200" b="0">
                <a:solidFill>
                  <a:srgbClr val="1F1F1F"/>
                </a:solidFill>
                <a:latin typeface="Microsoft YaHei"/>
                <a:ea typeface="Microsoft YaHei"/>
              </a:rPr>
              <a:t>编码 4 楼梯占用、两侧位置与候选代价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00" b="1">
                <a:solidFill>
                  <a:srgbClr val="595959"/>
                </a:solidFill>
                <a:latin typeface="Microsoft YaHei"/>
                <a:ea typeface="Microsoft YaHei"/>
              </a:rPr>
              <a:t>▪ </a:t>
            </a:r>
            <a:r>
              <a:rPr sz="1200" b="0">
                <a:solidFill>
                  <a:srgbClr val="1F1F1F"/>
                </a:solidFill>
                <a:latin typeface="Microsoft YaHei"/>
                <a:ea typeface="Microsoft YaHei"/>
              </a:rPr>
              <a:t>距离、时间、累计量统一归一化，同状态重复编码逐元素一致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611880"/>
            <a:ext cx="531860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00000"/>
                </a:solidFill>
                <a:latin typeface="Microsoft YaHei"/>
                <a:ea typeface="Microsoft YaHei"/>
              </a:rPr>
              <a:t>组合动作候选编码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977640"/>
            <a:ext cx="5318607" cy="2286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" y="4114800"/>
            <a:ext cx="5172303" cy="45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" b="0">
                <a:solidFill>
                  <a:srgbClr val="000000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" y="4069080"/>
            <a:ext cx="5172303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00" b="1">
                <a:solidFill>
                  <a:srgbClr val="595959"/>
                </a:solidFill>
                <a:latin typeface="Microsoft YaHei"/>
                <a:ea typeface="Microsoft YaHei"/>
              </a:rPr>
              <a:t>▪ </a:t>
            </a:r>
            <a:r>
              <a:rPr sz="1200" b="0">
                <a:solidFill>
                  <a:srgbClr val="1F1F1F"/>
                </a:solidFill>
                <a:latin typeface="Microsoft YaHei"/>
                <a:ea typeface="Microsoft YaHei"/>
              </a:rPr>
              <a:t>任务 × 取货Carter × Go2 × 楼梯 × 发送点 × 接收点 × 接货Carter × 任务后策略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00" b="1">
                <a:solidFill>
                  <a:srgbClr val="595959"/>
                </a:solidFill>
                <a:latin typeface="Microsoft YaHei"/>
                <a:ea typeface="Microsoft YaHei"/>
              </a:rPr>
              <a:t>▪ </a:t>
            </a:r>
            <a:r>
              <a:rPr sz="1200" b="0">
                <a:solidFill>
                  <a:srgbClr val="1F1F1F"/>
                </a:solidFill>
                <a:latin typeface="Microsoft YaHei"/>
                <a:ea typeface="Microsoft YaHei"/>
              </a:rPr>
              <a:t>策略只在合法候选中选择；跨层任务保留多个楼梯选项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00" b="1">
                <a:solidFill>
                  <a:srgbClr val="595959"/>
                </a:solidFill>
                <a:latin typeface="Microsoft YaHei"/>
                <a:ea typeface="Microsoft YaHei"/>
              </a:rPr>
              <a:t>▪ </a:t>
            </a:r>
            <a:r>
              <a:rPr sz="1200" b="0">
                <a:solidFill>
                  <a:srgbClr val="1F1F1F"/>
                </a:solidFill>
                <a:latin typeface="Microsoft YaHei"/>
                <a:ea typeface="Microsoft YaHei"/>
              </a:rPr>
              <a:t>显式提供取货侧 / Go2 / 跨楼层 / 接货侧 / 目标平台成本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760720"/>
            <a:ext cx="531860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00000"/>
                </a:solidFill>
                <a:latin typeface="Microsoft YaHei"/>
                <a:ea typeface="Microsoft YaHei"/>
              </a:rPr>
              <a:t>动作掩码压力测试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6126480"/>
            <a:ext cx="5318607" cy="2286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1792" y="6263640"/>
            <a:ext cx="5172303" cy="45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" b="0">
                <a:solidFill>
                  <a:srgbClr val="000000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" y="6217920"/>
            <a:ext cx="5172303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00" b="1">
                <a:solidFill>
                  <a:srgbClr val="595959"/>
                </a:solidFill>
                <a:latin typeface="Microsoft YaHei"/>
                <a:ea typeface="Microsoft YaHei"/>
              </a:rPr>
              <a:t>▪ </a:t>
            </a:r>
            <a:r>
              <a:rPr sz="1200" b="0">
                <a:solidFill>
                  <a:srgbClr val="1F1F1F"/>
                </a:solidFill>
                <a:latin typeface="Microsoft YaHei"/>
                <a:ea typeface="Microsoft YaHei"/>
              </a:rPr>
              <a:t>忙碌 / 故障 / 带货 / 已有任务的机器人不能接单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00" b="1">
                <a:solidFill>
                  <a:srgbClr val="595959"/>
                </a:solidFill>
                <a:latin typeface="Microsoft YaHei"/>
                <a:ea typeface="Microsoft YaHei"/>
              </a:rPr>
              <a:t>▪ </a:t>
            </a:r>
            <a:r>
              <a:rPr sz="1200" b="0">
                <a:solidFill>
                  <a:srgbClr val="1F1F1F"/>
                </a:solidFill>
                <a:latin typeface="Microsoft YaHei"/>
                <a:ea typeface="Microsoft YaHei"/>
              </a:rPr>
              <a:t>Carter 不能上下楼，同层任务不能调用 Go2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00" b="1">
                <a:solidFill>
                  <a:srgbClr val="595959"/>
                </a:solidFill>
                <a:latin typeface="Microsoft YaHei"/>
                <a:ea typeface="Microsoft YaHei"/>
              </a:rPr>
              <a:t>▪ </a:t>
            </a:r>
            <a:r>
              <a:rPr sz="1200" b="0">
                <a:solidFill>
                  <a:srgbClr val="1F1F1F"/>
                </a:solidFill>
                <a:latin typeface="Microsoft YaHei"/>
                <a:ea typeface="Microsoft YaHei"/>
              </a:rPr>
              <a:t>楼梯 / 交接点 / 区域占用时屏蔽冲突动作；无合法任务进入受控 WAIT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24447" y="1463040"/>
            <a:ext cx="531860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00000"/>
                </a:solidFill>
                <a:latin typeface="Microsoft YaHei"/>
                <a:ea typeface="Microsoft YaHei"/>
              </a:rPr>
              <a:t>统一接口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24447" y="1828800"/>
            <a:ext cx="5318607" cy="2286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97599" y="1965960"/>
            <a:ext cx="5172303" cy="45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" b="0">
                <a:solidFill>
                  <a:srgbClr val="000000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97599" y="1920240"/>
            <a:ext cx="5172303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00" b="1">
                <a:solidFill>
                  <a:srgbClr val="595959"/>
                </a:solidFill>
                <a:latin typeface="Microsoft YaHei"/>
                <a:ea typeface="Microsoft YaHei"/>
              </a:rPr>
              <a:t>▪ </a:t>
            </a:r>
            <a:r>
              <a:rPr sz="1200" b="0">
                <a:solidFill>
                  <a:srgbClr val="1F1F1F"/>
                </a:solidFill>
                <a:latin typeface="Microsoft YaHei"/>
                <a:ea typeface="Microsoft YaHei"/>
              </a:rPr>
              <a:t>规则调度器与学习策略读取同一份观测 / 候选 / 掩码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00" b="1">
                <a:solidFill>
                  <a:srgbClr val="595959"/>
                </a:solidFill>
                <a:latin typeface="Microsoft YaHei"/>
                <a:ea typeface="Microsoft YaHei"/>
              </a:rPr>
              <a:t>▪ </a:t>
            </a:r>
            <a:r>
              <a:rPr sz="1200" b="0">
                <a:solidFill>
                  <a:srgbClr val="1F1F1F"/>
                </a:solidFill>
                <a:latin typeface="Microsoft YaHei"/>
                <a:ea typeface="Microsoft YaHei"/>
              </a:rPr>
              <a:t>调用同一个环境 step()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00" b="1">
                <a:solidFill>
                  <a:srgbClr val="595959"/>
                </a:solidFill>
                <a:latin typeface="Microsoft YaHei"/>
                <a:ea typeface="Microsoft YaHei"/>
              </a:rPr>
              <a:t>▪ </a:t>
            </a:r>
            <a:r>
              <a:rPr sz="1200" b="0">
                <a:solidFill>
                  <a:srgbClr val="1F1F1F"/>
                </a:solidFill>
                <a:latin typeface="Microsoft YaHei"/>
                <a:ea typeface="Microsoft YaHei"/>
              </a:rPr>
              <a:t>不替换 SCAN-Planner，不训练低层运动控制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24447" y="3611880"/>
            <a:ext cx="531860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00000"/>
                </a:solidFill>
                <a:latin typeface="Microsoft YaHei"/>
                <a:ea typeface="Microsoft YaHei"/>
              </a:rPr>
              <a:t>阶段 12 验收标准（8 条）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24447" y="3977640"/>
            <a:ext cx="5318607" cy="2286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97599" y="4114800"/>
            <a:ext cx="5172303" cy="45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" b="0">
                <a:solidFill>
                  <a:srgbClr val="000000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97599" y="4069080"/>
            <a:ext cx="5172303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00" b="1">
                <a:solidFill>
                  <a:srgbClr val="595959"/>
                </a:solidFill>
                <a:latin typeface="Microsoft YaHei"/>
                <a:ea typeface="Microsoft YaHei"/>
              </a:rPr>
              <a:t>▪ </a:t>
            </a:r>
            <a:r>
              <a:rPr sz="1200" b="0">
                <a:solidFill>
                  <a:srgbClr val="1F1F1F"/>
                </a:solidFill>
                <a:latin typeface="Microsoft YaHei"/>
                <a:ea typeface="Microsoft YaHei"/>
              </a:rPr>
              <a:t>① 20 任务张量形状固定不变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00" b="1">
                <a:solidFill>
                  <a:srgbClr val="595959"/>
                </a:solidFill>
                <a:latin typeface="Microsoft YaHei"/>
                <a:ea typeface="Microsoft YaHei"/>
              </a:rPr>
              <a:t>▪ </a:t>
            </a:r>
            <a:r>
              <a:rPr sz="1200" b="0">
                <a:solidFill>
                  <a:srgbClr val="1F1F1F"/>
                </a:solidFill>
                <a:latin typeface="Microsoft YaHei"/>
                <a:ea typeface="Microsoft YaHei"/>
              </a:rPr>
              <a:t>② 相同种子 / 状态编码完全一致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00" b="1">
                <a:solidFill>
                  <a:srgbClr val="595959"/>
                </a:solidFill>
                <a:latin typeface="Microsoft YaHei"/>
                <a:ea typeface="Microsoft YaHei"/>
              </a:rPr>
              <a:t>▪ </a:t>
            </a:r>
            <a:r>
              <a:rPr sz="1200" b="0">
                <a:solidFill>
                  <a:srgbClr val="1F1F1F"/>
                </a:solidFill>
                <a:latin typeface="Microsoft YaHei"/>
                <a:ea typeface="Microsoft YaHei"/>
              </a:rPr>
              <a:t>③ 四类任务均至少生成一个合法动作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00" b="1">
                <a:solidFill>
                  <a:srgbClr val="595959"/>
                </a:solidFill>
                <a:latin typeface="Microsoft YaHei"/>
                <a:ea typeface="Microsoft YaHei"/>
              </a:rPr>
              <a:t>▪ </a:t>
            </a:r>
            <a:r>
              <a:rPr sz="1200" b="0">
                <a:solidFill>
                  <a:srgbClr val="1F1F1F"/>
                </a:solidFill>
                <a:latin typeface="Microsoft YaHei"/>
                <a:ea typeface="Microsoft YaHei"/>
              </a:rPr>
              <a:t>④ 每个跨层任务至少保留两个不同楼梯的合法候选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00" b="1">
                <a:solidFill>
                  <a:srgbClr val="595959"/>
                </a:solidFill>
                <a:latin typeface="Microsoft YaHei"/>
                <a:ea typeface="Microsoft YaHei"/>
              </a:rPr>
              <a:t>▪ </a:t>
            </a:r>
            <a:r>
              <a:rPr sz="1200" b="0">
                <a:solidFill>
                  <a:srgbClr val="1F1F1F"/>
                </a:solidFill>
                <a:latin typeface="Microsoft YaHei"/>
                <a:ea typeface="Microsoft YaHei"/>
              </a:rPr>
              <a:t>⑤ 异常状态非法动作屏蔽率 100%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00" b="1">
                <a:solidFill>
                  <a:srgbClr val="595959"/>
                </a:solidFill>
                <a:latin typeface="Microsoft YaHei"/>
                <a:ea typeface="Microsoft YaHei"/>
              </a:rPr>
              <a:t>▪ </a:t>
            </a:r>
            <a:r>
              <a:rPr sz="1200" b="0">
                <a:solidFill>
                  <a:srgbClr val="1F1F1F"/>
                </a:solidFill>
                <a:latin typeface="Microsoft YaHei"/>
                <a:ea typeface="Microsoft YaHei"/>
              </a:rPr>
              <a:t>⑥ 动作可无歧义解码回原始协作组合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00" b="1">
                <a:solidFill>
                  <a:srgbClr val="595959"/>
                </a:solidFill>
                <a:latin typeface="Microsoft YaHei"/>
                <a:ea typeface="Microsoft YaHei"/>
              </a:rPr>
              <a:t>▪ </a:t>
            </a:r>
            <a:r>
              <a:rPr sz="1200" b="0">
                <a:solidFill>
                  <a:srgbClr val="1F1F1F"/>
                </a:solidFill>
                <a:latin typeface="Microsoft YaHei"/>
                <a:ea typeface="Microsoft YaHei"/>
              </a:rPr>
              <a:t>⑦ 规则策略经新接口再完成 medium 20/20（不破坏封板）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00" b="1">
                <a:solidFill>
                  <a:srgbClr val="595959"/>
                </a:solidFill>
                <a:latin typeface="Microsoft YaHei"/>
                <a:ea typeface="Microsoft YaHei"/>
              </a:rPr>
              <a:t>▪ </a:t>
            </a:r>
            <a:r>
              <a:rPr sz="1200" b="0">
                <a:solidFill>
                  <a:srgbClr val="1F1F1F"/>
                </a:solidFill>
                <a:latin typeface="Microsoft YaHei"/>
                <a:ea typeface="Microsoft YaHei"/>
              </a:rPr>
              <a:t>⑧ 输出张量规格说明、测试报告、可直接用于 RL 的样本数据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595959"/>
                </a:solidFill>
                <a:latin typeface="Microsoft YaHei"/>
                <a:ea typeface="Microsoft YaHei"/>
              </a:rPr>
              <a:t>双层仓储异构机器人协作运输 · 2026-08-06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1">
                <a:solidFill>
                  <a:srgbClr val="595959"/>
                </a:solidFill>
                <a:latin typeface="Microsoft YaHei"/>
                <a:ea typeface="Microsoft YaHe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57200"/>
            <a:ext cx="146304" cy="47548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9536" y="384048"/>
            <a:ext cx="914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595959"/>
                </a:solidFill>
                <a:latin typeface="Microsoft YaHei"/>
                <a:ea typeface="Microsoft YaHei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73936" y="384048"/>
            <a:ext cx="986911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600" b="1">
                <a:solidFill>
                  <a:srgbClr val="000000"/>
                </a:solidFill>
                <a:latin typeface="Microsoft YaHei"/>
                <a:ea typeface="Microsoft YaHei"/>
              </a:rPr>
              <a:t>风险与验证边界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73936" y="896112"/>
            <a:ext cx="986911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595959"/>
                </a:solidFill>
                <a:latin typeface="Microsoft YaHei"/>
                <a:ea typeface="Microsoft YaHei"/>
              </a:rPr>
              <a:t>当前通过的是逻辑规划、状态机与 RViz 可视化验收，不是完整物理仿真最终通过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280160"/>
            <a:ext cx="11094415" cy="2794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417320"/>
            <a:ext cx="11094415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417320"/>
            <a:ext cx="91440" cy="1143000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527048"/>
            <a:ext cx="4206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00000"/>
                </a:solidFill>
                <a:latin typeface="Microsoft YaHei"/>
                <a:ea typeface="Microsoft YaHei"/>
              </a:rPr>
              <a:t>当前为 RViz / 逻辑验收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80" y="1527048"/>
            <a:ext cx="670529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0">
                <a:solidFill>
                  <a:srgbClr val="1F1F1F"/>
                </a:solidFill>
                <a:latin typeface="Microsoft YaHei"/>
                <a:ea typeface="Microsoft YaHei"/>
              </a:rPr>
              <a:t>规划与协作逻辑在 RViz 验证；Gazebo 动力学步态、抖动、碰撞与最终视觉效果留待项目收尾统一优化。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706624"/>
            <a:ext cx="11094415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2706624"/>
            <a:ext cx="91440" cy="1143000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2816352"/>
            <a:ext cx="4206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00000"/>
                </a:solidFill>
                <a:latin typeface="Microsoft YaHei"/>
                <a:ea typeface="Microsoft YaHei"/>
              </a:rPr>
              <a:t>并发资源竞争未验证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80" y="2816352"/>
            <a:ext cx="670529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0">
                <a:solidFill>
                  <a:srgbClr val="1F1F1F"/>
                </a:solidFill>
                <a:latin typeface="Microsoft YaHei"/>
                <a:ea typeface="Microsoft YaHei"/>
              </a:rPr>
              <a:t>阶段 11 串行执行；两条运输链同时竞争同一楼梯 / 交接点 / 区域时的排队、公平性与死锁恢复属后续扩展。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995928"/>
            <a:ext cx="11094415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3995928"/>
            <a:ext cx="91440" cy="1143000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4105656"/>
            <a:ext cx="4206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00000"/>
                </a:solidFill>
                <a:latin typeface="Microsoft YaHei"/>
                <a:ea typeface="Microsoft YaHei"/>
              </a:rPr>
              <a:t>Gazebo 动力学与泊位物理可达性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80" y="4105656"/>
            <a:ext cx="670529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0">
                <a:solidFill>
                  <a:srgbClr val="1F1F1F"/>
                </a:solidFill>
                <a:latin typeface="Microsoft YaHei"/>
                <a:ea typeface="Microsoft YaHei"/>
              </a:rPr>
              <a:t>泊位逻辑层唯一且不重叠；最终需复核模型占用、外形尺寸与 SCAN-Planner 末端可达性。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5285232"/>
            <a:ext cx="11094415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5285232"/>
            <a:ext cx="91440" cy="1143000"/>
          </a:xfrm>
          <a:prstGeom prst="rect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5394960"/>
            <a:ext cx="4206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00000"/>
                </a:solidFill>
                <a:latin typeface="Microsoft YaHei"/>
                <a:ea typeface="Microsoft YaHei"/>
              </a:rPr>
              <a:t>随机扰动暂时关闭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12080" y="5394960"/>
            <a:ext cx="670529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0">
                <a:solidFill>
                  <a:srgbClr val="1F1F1F"/>
                </a:solidFill>
                <a:latin typeface="Microsoft YaHei"/>
                <a:ea typeface="Microsoft YaHei"/>
              </a:rPr>
              <a:t>当前优先使用既定确定性路线，不加入随机扰动，避免干扰验收对比。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5760720"/>
            <a:ext cx="11094415" cy="548640"/>
          </a:xfrm>
          <a:prstGeom prst="rect">
            <a:avLst/>
          </a:prstGeom>
          <a:solidFill>
            <a:srgbClr val="F2F2F2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36576" bIns="36576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300" b="1">
                <a:solidFill>
                  <a:srgbClr val="B8860B"/>
                </a:solidFill>
                <a:latin typeface="Microsoft YaHei"/>
                <a:ea typeface="Microsoft YaHei"/>
              </a:rPr>
              <a:t>边界表述：本阶段通过 = 逻辑规划 + 状态机 + RViz 可视化验收。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595959"/>
                </a:solidFill>
                <a:latin typeface="Microsoft YaHei"/>
                <a:ea typeface="Microsoft YaHei"/>
              </a:rPr>
              <a:t>双层仓储异构机器人协作运输 · 2026-08-06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1">
                <a:solidFill>
                  <a:srgbClr val="595959"/>
                </a:solidFill>
                <a:latin typeface="Microsoft YaHei"/>
                <a:ea typeface="Microsoft YaHe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57200"/>
            <a:ext cx="146304" cy="47548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9536" y="384048"/>
            <a:ext cx="914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595959"/>
                </a:solidFill>
                <a:latin typeface="Microsoft YaHei"/>
                <a:ea typeface="Microsoft YaHei"/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73936" y="384048"/>
            <a:ext cx="986911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600" b="1">
                <a:solidFill>
                  <a:srgbClr val="000000"/>
                </a:solidFill>
                <a:latin typeface="Microsoft YaHei"/>
                <a:ea typeface="Microsoft YaHei"/>
              </a:rPr>
              <a:t>后续路线图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73936" y="896112"/>
            <a:ext cx="986911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595959"/>
                </a:solidFill>
                <a:latin typeface="Microsoft YaHei"/>
                <a:ea typeface="Microsoft YaHei"/>
              </a:rPr>
              <a:t>阶段 12 → 阶段 13 → 训练与泛化 → Gazebo 收尾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280160"/>
            <a:ext cx="11094415" cy="2794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463040"/>
            <a:ext cx="2567863" cy="2834640"/>
          </a:xfrm>
          <a:prstGeom prst="rect">
            <a:avLst/>
          </a:prstGeom>
          <a:solidFill>
            <a:srgbClr val="FFFFFF"/>
          </a:solidFill>
          <a:ln w="1651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463040"/>
            <a:ext cx="2567863" cy="65836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36576" bIns="36576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</a:rPr>
              <a:t>阶段 12 · 接口</a:t>
            </a:r>
          </a:p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050" b="0">
                <a:solidFill>
                  <a:srgbClr val="D9D9D9"/>
                </a:solidFill>
                <a:latin typeface="Microsoft YaHei"/>
                <a:ea typeface="Microsoft YaHei"/>
              </a:rPr>
              <a:t>张量与动作接口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" y="2240280"/>
            <a:ext cx="2311831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150" b="1">
                <a:solidFill>
                  <a:srgbClr val="595959"/>
                </a:solidFill>
                <a:latin typeface="Microsoft YaHei"/>
                <a:ea typeface="Microsoft YaHei"/>
              </a:rPr>
              <a:t>• </a:t>
            </a:r>
            <a:r>
              <a:rPr sz="1150" b="0">
                <a:solidFill>
                  <a:srgbClr val="000000"/>
                </a:solidFill>
                <a:latin typeface="Microsoft YaHei"/>
                <a:ea typeface="Microsoft YaHei"/>
              </a:rPr>
              <a:t>固定维度观测 / 组合动作 / 动作掩码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150" b="1">
                <a:solidFill>
                  <a:srgbClr val="595959"/>
                </a:solidFill>
                <a:latin typeface="Microsoft YaHei"/>
                <a:ea typeface="Microsoft YaHei"/>
              </a:rPr>
              <a:t>• </a:t>
            </a:r>
            <a:r>
              <a:rPr sz="1150" b="0">
                <a:solidFill>
                  <a:srgbClr val="000000"/>
                </a:solidFill>
                <a:latin typeface="Microsoft YaHei"/>
                <a:ea typeface="Microsoft YaHei"/>
              </a:rPr>
              <a:t>统一接口，验收 8 条标准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6656" y="3858768"/>
            <a:ext cx="1005840" cy="292608"/>
          </a:xfrm>
          <a:prstGeom prst="round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36576" bIns="36576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下一步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3134791" y="2697480"/>
            <a:ext cx="237744" cy="365760"/>
          </a:xfrm>
          <a:prstGeom prst="rightArrow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90823" y="1463040"/>
            <a:ext cx="2567863" cy="2834640"/>
          </a:xfrm>
          <a:prstGeom prst="rect">
            <a:avLst/>
          </a:prstGeom>
          <a:solidFill>
            <a:srgbClr val="FFFFFF"/>
          </a:solidFill>
          <a:ln w="1651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90823" y="1463040"/>
            <a:ext cx="2567863" cy="65836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36576" bIns="36576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</a:rPr>
              <a:t>阶段 13 · 训练准备</a:t>
            </a:r>
          </a:p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050" b="0">
                <a:solidFill>
                  <a:srgbClr val="D9D9D9"/>
                </a:solidFill>
                <a:latin typeface="Microsoft YaHei"/>
                <a:ea typeface="Microsoft YaHei"/>
              </a:rPr>
              <a:t>奖励 / 终止条件 / 训练规则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18839" y="2240280"/>
            <a:ext cx="2311831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150" b="1">
                <a:solidFill>
                  <a:srgbClr val="595959"/>
                </a:solidFill>
                <a:latin typeface="Microsoft YaHei"/>
                <a:ea typeface="Microsoft YaHei"/>
              </a:rPr>
              <a:t>• </a:t>
            </a:r>
            <a:r>
              <a:rPr sz="1150" b="0">
                <a:solidFill>
                  <a:srgbClr val="000000"/>
                </a:solidFill>
                <a:latin typeface="Microsoft YaHei"/>
                <a:ea typeface="Microsoft YaHei"/>
              </a:rPr>
              <a:t>设计奖励与终止条件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150" b="1">
                <a:solidFill>
                  <a:srgbClr val="595959"/>
                </a:solidFill>
                <a:latin typeface="Microsoft YaHei"/>
                <a:ea typeface="Microsoft YaHei"/>
              </a:rPr>
              <a:t>• </a:t>
            </a:r>
            <a:r>
              <a:rPr sz="1150" b="0">
                <a:solidFill>
                  <a:srgbClr val="000000"/>
                </a:solidFill>
                <a:latin typeface="Microsoft YaHei"/>
                <a:ea typeface="Microsoft YaHei"/>
              </a:rPr>
              <a:t>定义训练规则与基线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518839" y="3858768"/>
            <a:ext cx="1005840" cy="292608"/>
          </a:xfrm>
          <a:prstGeom prst="round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36576" bIns="36576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下一步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5976975" y="2697480"/>
            <a:ext cx="237744" cy="365760"/>
          </a:xfrm>
          <a:prstGeom prst="rightArrow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33007" y="1463040"/>
            <a:ext cx="2567863" cy="2834640"/>
          </a:xfrm>
          <a:prstGeom prst="rect">
            <a:avLst/>
          </a:prstGeom>
          <a:solidFill>
            <a:srgbClr val="FFFFFF"/>
          </a:solidFill>
          <a:ln w="1651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33007" y="1463040"/>
            <a:ext cx="2567863" cy="65836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36576" bIns="36576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</a:rPr>
              <a:t>训练与验证</a:t>
            </a:r>
          </a:p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050" b="0">
                <a:solidFill>
                  <a:srgbClr val="D9D9D9"/>
                </a:solidFill>
                <a:latin typeface="Microsoft YaHei"/>
                <a:ea typeface="Microsoft YaHei"/>
              </a:rPr>
              <a:t>规则基线对比 · RL 训练 · 泛化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61023" y="2240280"/>
            <a:ext cx="2311831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150" b="1">
                <a:solidFill>
                  <a:srgbClr val="595959"/>
                </a:solidFill>
                <a:latin typeface="Microsoft YaHei"/>
                <a:ea typeface="Microsoft YaHei"/>
              </a:rPr>
              <a:t>• </a:t>
            </a:r>
            <a:r>
              <a:rPr sz="1150" b="0">
                <a:solidFill>
                  <a:srgbClr val="000000"/>
                </a:solidFill>
                <a:latin typeface="Microsoft YaHei"/>
                <a:ea typeface="Microsoft YaHei"/>
              </a:rPr>
              <a:t>规则基线对比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150" b="1">
                <a:solidFill>
                  <a:srgbClr val="595959"/>
                </a:solidFill>
                <a:latin typeface="Microsoft YaHei"/>
                <a:ea typeface="Microsoft YaHei"/>
              </a:rPr>
              <a:t>• </a:t>
            </a:r>
            <a:r>
              <a:rPr sz="1150" b="0">
                <a:solidFill>
                  <a:srgbClr val="000000"/>
                </a:solidFill>
                <a:latin typeface="Microsoft YaHei"/>
                <a:ea typeface="Microsoft YaHei"/>
              </a:rPr>
              <a:t>强化学习训练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150" b="1">
                <a:solidFill>
                  <a:srgbClr val="595959"/>
                </a:solidFill>
                <a:latin typeface="Microsoft YaHei"/>
                <a:ea typeface="Microsoft YaHei"/>
              </a:rPr>
              <a:t>• </a:t>
            </a:r>
            <a:r>
              <a:rPr sz="1150" b="0">
                <a:solidFill>
                  <a:srgbClr val="000000"/>
                </a:solidFill>
                <a:latin typeface="Microsoft YaHei"/>
                <a:ea typeface="Microsoft YaHei"/>
              </a:rPr>
              <a:t>泛化 / 压力测试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61023" y="3858768"/>
            <a:ext cx="1005840" cy="292608"/>
          </a:xfrm>
          <a:prstGeom prst="round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36576" bIns="36576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下一步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8819159" y="2697480"/>
            <a:ext cx="237744" cy="365760"/>
          </a:xfrm>
          <a:prstGeom prst="rightArrow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075191" y="1463040"/>
            <a:ext cx="2567863" cy="2834640"/>
          </a:xfrm>
          <a:prstGeom prst="rect">
            <a:avLst/>
          </a:prstGeom>
          <a:solidFill>
            <a:srgbClr val="FFFFFF"/>
          </a:solidFill>
          <a:ln w="1651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075191" y="1463040"/>
            <a:ext cx="2567863" cy="65836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36576" bIns="36576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</a:rPr>
              <a:t>项目收尾</a:t>
            </a:r>
          </a:p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050" b="0">
                <a:solidFill>
                  <a:srgbClr val="D9D9D9"/>
                </a:solidFill>
                <a:latin typeface="Microsoft YaHei"/>
                <a:ea typeface="Microsoft YaHei"/>
              </a:rPr>
              <a:t>Gazebo 统一优化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03207" y="2240280"/>
            <a:ext cx="2311831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150" b="1">
                <a:solidFill>
                  <a:srgbClr val="595959"/>
                </a:solidFill>
                <a:latin typeface="Microsoft YaHei"/>
                <a:ea typeface="Microsoft YaHei"/>
              </a:rPr>
              <a:t>• </a:t>
            </a:r>
            <a:r>
              <a:rPr sz="1150" b="0">
                <a:solidFill>
                  <a:srgbClr val="000000"/>
                </a:solidFill>
                <a:latin typeface="Microsoft YaHei"/>
                <a:ea typeface="Microsoft YaHei"/>
              </a:rPr>
              <a:t>动力学 / 碰撞 / 步态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150" b="1">
                <a:solidFill>
                  <a:srgbClr val="595959"/>
                </a:solidFill>
                <a:latin typeface="Microsoft YaHei"/>
                <a:ea typeface="Microsoft YaHei"/>
              </a:rPr>
              <a:t>• </a:t>
            </a:r>
            <a:r>
              <a:rPr sz="1150" b="0">
                <a:solidFill>
                  <a:srgbClr val="000000"/>
                </a:solidFill>
                <a:latin typeface="Microsoft YaHei"/>
                <a:ea typeface="Microsoft YaHei"/>
              </a:rPr>
              <a:t>泊位物理可达性复核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150" b="1">
                <a:solidFill>
                  <a:srgbClr val="595959"/>
                </a:solidFill>
                <a:latin typeface="Microsoft YaHei"/>
                <a:ea typeface="Microsoft YaHei"/>
              </a:rPr>
              <a:t>• </a:t>
            </a:r>
            <a:r>
              <a:rPr sz="1150" b="0">
                <a:solidFill>
                  <a:srgbClr val="000000"/>
                </a:solidFill>
                <a:latin typeface="Microsoft YaHei"/>
                <a:ea typeface="Microsoft YaHei"/>
              </a:rPr>
              <a:t>最终演示效果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203207" y="3858768"/>
            <a:ext cx="1005840" cy="292608"/>
          </a:xfrm>
          <a:prstGeom prst="round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36576" bIns="36576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下一步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4709160"/>
            <a:ext cx="11094415" cy="1371600"/>
          </a:xfrm>
          <a:prstGeom prst="rect">
            <a:avLst/>
          </a:prstGeom>
          <a:solidFill>
            <a:srgbClr val="F2F2F2"/>
          </a:solidFill>
          <a:ln w="12700">
            <a:solidFill>
              <a:srgbClr val="1F6F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36576" bIns="36576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500" b="1">
                <a:solidFill>
                  <a:srgbClr val="1F6FB2"/>
                </a:solidFill>
                <a:latin typeface="Microsoft YaHei"/>
                <a:ea typeface="Microsoft YaHei"/>
              </a:rPr>
              <a:t>下一阶段验收目标</a:t>
            </a:r>
          </a:p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300" b="0">
                <a:solidFill>
                  <a:srgbClr val="1F1F1F"/>
                </a:solidFill>
                <a:latin typeface="Microsoft YaHei"/>
                <a:ea typeface="Microsoft YaHei"/>
              </a:rPr>
              <a:t>完成阶段 12 张量接口并满足 8 条验收标准：形状稳定、编码一致、四类任务合法动作、跨层 ≥2 楼梯候选、</a:t>
            </a:r>
          </a:p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300" b="0">
                <a:solidFill>
                  <a:srgbClr val="1F1F1F"/>
                </a:solidFill>
                <a:latin typeface="Microsoft YaHei"/>
                <a:ea typeface="Microsoft YaHei"/>
              </a:rPr>
              <a:t>非法动作屏蔽 100%、动作可逆解码、规则策略 medium 20/20 回归通过、输出可直接用于 RL 的样本数据。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595959"/>
                </a:solidFill>
                <a:latin typeface="Microsoft YaHei"/>
                <a:ea typeface="Microsoft YaHei"/>
              </a:rPr>
              <a:t>双层仓储异构机器人协作运输 · 2026-08-06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1">
                <a:solidFill>
                  <a:srgbClr val="595959"/>
                </a:solidFill>
                <a:latin typeface="Microsoft YaHei"/>
                <a:ea typeface="Microsoft YaHei"/>
              </a:rP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