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8804bb789a4639" /><Relationship Type="http://schemas.openxmlformats.org/officeDocument/2006/relationships/extended-properties" Target="/docProps/app.xml" Id="R3838fa3b4d7044e8" /><Relationship Type="http://schemas.openxmlformats.org/officeDocument/2006/relationships/officeDocument" Target="/ppt/presentation.xml" Id="Rf48c0a295b394f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e57338faf84baa"/>
  </p:sldMasterIdLst>
  <p:notesMasterIdLst>
    <p:notesMasterId xmlns:r="http://schemas.openxmlformats.org/officeDocument/2006/relationships" r:id="R9efe7d42bc6444f9"/>
  </p:notesMasterIdLst>
  <p:sldIdLst>
    <p:sldId xmlns:r="http://schemas.openxmlformats.org/officeDocument/2006/relationships" id="256" r:id="R26f2ff5d0bb449e7"/>
    <p:sldId xmlns:r="http://schemas.openxmlformats.org/officeDocument/2006/relationships" id="257" r:id="Rff33d1b2894942ae"/>
    <p:sldId xmlns:r="http://schemas.openxmlformats.org/officeDocument/2006/relationships" id="258" r:id="R1f8fed97f6944462"/>
    <p:sldId xmlns:r="http://schemas.openxmlformats.org/officeDocument/2006/relationships" id="259" r:id="R321b05074a9f45d7"/>
    <p:sldId xmlns:r="http://schemas.openxmlformats.org/officeDocument/2006/relationships" id="260" r:id="R909ad379f2eb4d80"/>
    <p:sldId xmlns:r="http://schemas.openxmlformats.org/officeDocument/2006/relationships" id="261" r:id="Rf143d20e2fed44e2"/>
    <p:sldId xmlns:r="http://schemas.openxmlformats.org/officeDocument/2006/relationships" id="262" r:id="Rac23344345934ea9"/>
    <p:sldId xmlns:r="http://schemas.openxmlformats.org/officeDocument/2006/relationships" id="263" r:id="Reccc505b56c64cd8"/>
    <p:sldId xmlns:r="http://schemas.openxmlformats.org/officeDocument/2006/relationships" id="264" r:id="Ra0263a880ecf49f1"/>
    <p:sldId xmlns:r="http://schemas.openxmlformats.org/officeDocument/2006/relationships" id="265" r:id="R0c5b92f461314fa4"/>
    <p:sldId xmlns:r="http://schemas.openxmlformats.org/officeDocument/2006/relationships" id="266" r:id="R0f313fbf3f3f4620"/>
    <p:sldId xmlns:r="http://schemas.openxmlformats.org/officeDocument/2006/relationships" id="267" r:id="Re6f82dc4e5e34f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47e447be0a4b45" /><Relationship Type="http://schemas.openxmlformats.org/officeDocument/2006/relationships/slideMaster" Target="/ppt/slideMasters/slideMaster1.xml" Id="R85e57338faf84baa" /><Relationship Type="http://schemas.openxmlformats.org/officeDocument/2006/relationships/notesMaster" Target="/ppt/notesMasters/notesMaster1.xml" Id="R9efe7d42bc6444f9" /><Relationship Type="http://schemas.openxmlformats.org/officeDocument/2006/relationships/presProps" Target="/ppt/presProps.xml" Id="Rdd19fbe623c14cfc" /><Relationship Type="http://schemas.openxmlformats.org/officeDocument/2006/relationships/tableStyles" Target="/ppt/tableStyles.xml" Id="Rf2a46e66f1f0431e" /><Relationship Type="http://schemas.openxmlformats.org/officeDocument/2006/relationships/slide" Target="/ppt/slides/slide1.xml" Id="R26f2ff5d0bb449e7" /><Relationship Type="http://schemas.openxmlformats.org/officeDocument/2006/relationships/slide" Target="/ppt/slides/slide2.xml" Id="Rff33d1b2894942ae" /><Relationship Type="http://schemas.openxmlformats.org/officeDocument/2006/relationships/slide" Target="/ppt/slides/slide3.xml" Id="R1f8fed97f6944462" /><Relationship Type="http://schemas.openxmlformats.org/officeDocument/2006/relationships/slide" Target="/ppt/slides/slide4.xml" Id="R321b05074a9f45d7" /><Relationship Type="http://schemas.openxmlformats.org/officeDocument/2006/relationships/slide" Target="/ppt/slides/slide5.xml" Id="R909ad379f2eb4d80" /><Relationship Type="http://schemas.openxmlformats.org/officeDocument/2006/relationships/slide" Target="/ppt/slides/slide6.xml" Id="Rf143d20e2fed44e2" /><Relationship Type="http://schemas.openxmlformats.org/officeDocument/2006/relationships/slide" Target="/ppt/slides/slide7.xml" Id="Rac23344345934ea9" /><Relationship Type="http://schemas.openxmlformats.org/officeDocument/2006/relationships/slide" Target="/ppt/slides/slide8.xml" Id="Reccc505b56c64cd8" /><Relationship Type="http://schemas.openxmlformats.org/officeDocument/2006/relationships/slide" Target="/ppt/slides/slide9.xml" Id="Ra0263a880ecf49f1" /><Relationship Type="http://schemas.openxmlformats.org/officeDocument/2006/relationships/slide" Target="/ppt/slides/slide10.xml" Id="R0c5b92f461314fa4" /><Relationship Type="http://schemas.openxmlformats.org/officeDocument/2006/relationships/slide" Target="/ppt/slides/slide11.xml" Id="R0f313fbf3f3f4620" /><Relationship Type="http://schemas.openxmlformats.org/officeDocument/2006/relationships/slide" Target="/ppt/slides/slide12.xml" Id="Re6f82dc4e5e3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4b0ad39c2a41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f3b85af1a74401" /><Relationship Type="http://schemas.openxmlformats.org/officeDocument/2006/relationships/notesMaster" Target="/ppt/notesMasters/notesMaster1.xml" Id="Rde868ab6f8f9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ec34da63e4157" /><Relationship Type="http://schemas.openxmlformats.org/officeDocument/2006/relationships/notesMaster" Target="/ppt/notesMasters/notesMaster1.xml" Id="R92c4a712cc2344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b90d08cb64c36" /><Relationship Type="http://schemas.openxmlformats.org/officeDocument/2006/relationships/notesMaster" Target="/ppt/notesMasters/notesMaster1.xml" Id="R894446400070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495a3c147f45e8" /><Relationship Type="http://schemas.openxmlformats.org/officeDocument/2006/relationships/notesMaster" Target="/ppt/notesMasters/notesMaster1.xml" Id="R4122cb6f2221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0a3d578cc44975" /><Relationship Type="http://schemas.openxmlformats.org/officeDocument/2006/relationships/notesMaster" Target="/ppt/notesMasters/notesMaster1.xml" Id="R259289b8a2764f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129b678f864fdf" /><Relationship Type="http://schemas.openxmlformats.org/officeDocument/2006/relationships/notesMaster" Target="/ppt/notesMasters/notesMaster1.xml" Id="Reeca1da636e7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6fb851d184dfd" /><Relationship Type="http://schemas.openxmlformats.org/officeDocument/2006/relationships/notesMaster" Target="/ppt/notesMasters/notesMaster1.xml" Id="Rb78ae96f426f49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b0e1b826734b54" /><Relationship Type="http://schemas.openxmlformats.org/officeDocument/2006/relationships/notesMaster" Target="/ppt/notesMasters/notesMaster1.xml" Id="Rb3250432db31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98cf3c13354032" /><Relationship Type="http://schemas.openxmlformats.org/officeDocument/2006/relationships/notesMaster" Target="/ppt/notesMasters/notesMaster1.xml" Id="R6b865adc940948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30e912aaa24689" /><Relationship Type="http://schemas.openxmlformats.org/officeDocument/2006/relationships/notesMaster" Target="/ppt/notesMasters/notesMaster1.xml" Id="R3a7f214353cd46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ceca8683f34cb0" /><Relationship Type="http://schemas.openxmlformats.org/officeDocument/2006/relationships/notesMaster" Target="/ppt/notesMasters/notesMaster1.xml" Id="Rff2565c306c64d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84fdc77802450a" /><Relationship Type="http://schemas.openxmlformats.org/officeDocument/2006/relationships/notesMaster" Target="/ppt/notesMasters/notesMaster1.xml" Id="Refa03cea0624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- /Users/lab4099/Desktop/Mujoco/work/src/warehouse_core/warehouse_core/stage14_training.py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- /Users/lab4099/Desktop/Mujoco/work/阶段14_SMDP_PPO训练与测试说明.md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/Users/lab4099/Desktop/Mujoco/work/results/stage15/stage15_three_way_100ep.md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/Users/lab4099/Desktop/Mujoco/work/阶段14_SMDP_PPO训练与测试说明.md</a:t>
            </a:r>
          </a:p>
          <a:p xmlns:a="http://schemas.openxmlformats.org/drawingml/2006/main">
            <a:r>
              <a:t>- /Users/lab4099/Desktop/Mujoco/work/results/stage14/ppo/long/realistic_concurrent_medium_reward_v2_context_v2/stage14_realistic_concurrent_medium_reward_v2_context_v2.summary.json</a:t>
            </a:r>
          </a:p>
          <a:p xmlns:a="http://schemas.openxmlformats.org/drawingml/2006/main">
            <a:r>
              <a:t>- /Users/lab4099/Desktop/Mujoco/work/src/warehouse_core/warehouse_core/stage14_training.py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/Users/lab4099/Desktop/Mujoco/work/results/stage15/stage15_serial_medium_three_way_100ep.md</a:t>
            </a:r>
          </a:p>
          <a:p xmlns:a="http://schemas.openxmlformats.org/drawingml/2006/main">
            <a:r>
              <a:t>- /Users/lab4099/Desktop/Mujoco/work/阶段15_SERIAL回报对比.md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/Users/lab4099/Desktop/Mujoco/work/results/stage15/stage15_serial_vs_concurrent_100ep.md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/Users/lab4099/Desktop/Mujoco/work/results/stage15/stage15_mixed_continuous_100ep.md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/Users/lab4099/Desktop/Mujoco/work/results/stage15/stage15_three_way_100ep.md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/Users/lab4099/Desktop/Mujoco/work/0809交接文档.md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8f6bfa4b1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f1189492094a30" /><Relationship Type="http://schemas.openxmlformats.org/officeDocument/2006/relationships/slideLayout" Target="/ppt/slideLayouts/slideLayout1.xml" Id="R8c7fba69a1c3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fba69a1c3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6aa201f43440b" /><Relationship Type="http://schemas.openxmlformats.org/officeDocument/2006/relationships/notesSlide" Target="/ppt/notesSlides/notesSlide1.xml" Id="R0d34043f391540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bc11a980f4769" /><Relationship Type="http://schemas.openxmlformats.org/officeDocument/2006/relationships/notesSlide" Target="/ppt/notesSlides/notesSlide2.xml" Id="Ree2f51eb56c6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8ecd498f14998" /><Relationship Type="http://schemas.openxmlformats.org/officeDocument/2006/relationships/notesSlide" Target="/ppt/notesSlides/notesSlide3.xml" Id="R6d39f470577640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cd7077964a86" /><Relationship Type="http://schemas.openxmlformats.org/officeDocument/2006/relationships/notesSlide" Target="/ppt/notesSlides/notesSlide4.xml" Id="Rf281d2d8713e41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092a22e2447e9" /><Relationship Type="http://schemas.openxmlformats.org/officeDocument/2006/relationships/notesSlide" Target="/ppt/notesSlides/notesSlide5.xml" Id="Rc9a5ad5f157940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40dfead094759" /><Relationship Type="http://schemas.openxmlformats.org/officeDocument/2006/relationships/notesSlide" Target="/ppt/notesSlides/notesSlide6.xml" Id="Re44e428bfa68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ede286604e97" /><Relationship Type="http://schemas.openxmlformats.org/officeDocument/2006/relationships/notesSlide" Target="/ppt/notesSlides/notesSlide7.xml" Id="R7796412974c247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7aa722d844ef2" /><Relationship Type="http://schemas.openxmlformats.org/officeDocument/2006/relationships/chart" Target="/ppt/slides/charts/chart1.xml" Id="R4b608fb3326f4a51" /><Relationship Type="http://schemas.openxmlformats.org/officeDocument/2006/relationships/notesSlide" Target="/ppt/notesSlides/notesSlide8.xml" Id="Re6f3e1d8af6c44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ce810cabc4886" /><Relationship Type="http://schemas.openxmlformats.org/officeDocument/2006/relationships/chart" Target="/ppt/slides/charts/chart2.xml" Id="R2f31fe94d99e4bea" /><Relationship Type="http://schemas.openxmlformats.org/officeDocument/2006/relationships/notesSlide" Target="/ppt/notesSlides/notesSlide9.xml" Id="R54696d8cc3d541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d6280d1df44de" /><Relationship Type="http://schemas.openxmlformats.org/officeDocument/2006/relationships/chart" Target="/ppt/slides/charts/chart3.xml" Id="R527e590d582d46b5" /><Relationship Type="http://schemas.openxmlformats.org/officeDocument/2006/relationships/notesSlide" Target="/ppt/notesSlides/notesSlide10.xml" Id="R6356e0aabe7242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7087ce25c4ba0" /><Relationship Type="http://schemas.openxmlformats.org/officeDocument/2006/relationships/notesSlide" Target="/ppt/notesSlides/notesSlide11.xml" Id="Rf9dbc5c2d3f24e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beee6719b4f4c" /><Relationship Type="http://schemas.openxmlformats.org/officeDocument/2006/relationships/notesSlide" Target="/ppt/notesSlides/notesSlide12.xml" Id="Rb3ef96f1d08a409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平均episode回报</c:v>
          </c:tx>
          <c:dPt>
            <c:idx val="0"/>
            <c:invertIfNegative val="0"/>
            <c:spPr>
              <a:solidFill xmlns:a="http://schemas.openxmlformats.org/drawingml/2006/main">
                <a:srgbClr val="0E9F9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377E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AB4C3"/>
              </a:solidFill>
            </c:spPr>
          </c:dPt>
          <c:cat>
            <c:strLit>
              <c:ptCount val="3"/>
              <c:pt idx="0">
                <c:v>PPO</c:v>
              </c:pt>
              <c:pt idx="1">
                <c:v>风险规则</c:v>
              </c:pt>
              <c:pt idx="2">
                <c:v>时间规则</c:v>
              </c:pt>
            </c:strLit>
          </c:cat>
          <c:val>
            <c:numLit>
              <c:formatCode>General</c:formatCode>
              <c:ptCount val="3"/>
              <c:pt idx="0">
                <c:v>15.994</c:v>
              </c:pt>
              <c:pt idx="1">
                <c:v>15.825</c:v>
              </c:pt>
              <c:pt idx="2">
                <c:v>15.444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7F9"/>
        </a:solidFill>
      </c:spPr>
    </c:plotArea>
    <c:plotVisOnly val="1"/>
  </c:chart>
  <c:spPr>
    <a:solidFill xmlns:a="http://schemas.openxmlformats.org/drawingml/2006/main">
      <a:srgbClr val="F6F7F9"/>
    </a:solidFill>
    <a:ln xmlns:a="http://schemas.openxmlformats.org/drawingml/2006/main" w="0">
      <a:solidFill>
        <a:srgbClr val="F6F7F9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SERIAL</c:v>
          </c:tx>
          <c:spPr>
            <a:solidFill xmlns:a="http://schemas.openxmlformats.org/drawingml/2006/main">
              <a:srgbClr val="AAB4C3"/>
            </a:solidFill>
          </c:spPr>
          <c:invertIfNegative val="0"/>
          <c:cat>
            <c:strLit>
              <c:ptCount val="3"/>
              <c:pt idx="0">
                <c:v>MEDIUM</c:v>
              </c:pt>
              <c:pt idx="1">
                <c:v>DENSE</c:v>
              </c:pt>
              <c:pt idx="2">
                <c:v>BURST</c:v>
              </c:pt>
            </c:strLit>
          </c:cat>
          <c:val>
            <c:numLit>
              <c:formatCode>General</c:formatCode>
              <c:ptCount val="3"/>
              <c:pt idx="0">
                <c:v>16.215</c:v>
              </c:pt>
              <c:pt idx="1">
                <c:v>-83.462</c:v>
              </c:pt>
              <c:pt idx="2">
                <c:v>-218.935</c:v>
              </c:pt>
            </c:numLit>
          </c:val>
        </c:ser>
        <c:ser>
          <c:idx val="1"/>
          <c:order val="1"/>
          <c:tx>
            <c:v>CONCURRENT</c:v>
          </c:tx>
          <c:spPr>
            <a:solidFill xmlns:a="http://schemas.openxmlformats.org/drawingml/2006/main">
              <a:srgbClr val="0E9F95"/>
            </a:solidFill>
          </c:spPr>
          <c:invertIfNegative val="0"/>
          <c:cat>
            <c:strLit>
              <c:ptCount val="3"/>
              <c:pt idx="0">
                <c:v>MEDIUM</c:v>
              </c:pt>
              <c:pt idx="1">
                <c:v>DENSE</c:v>
              </c:pt>
              <c:pt idx="2">
                <c:v>BURST</c:v>
              </c:pt>
            </c:strLit>
          </c:cat>
          <c:val>
            <c:numLit>
              <c:formatCode>General</c:formatCode>
              <c:ptCount val="3"/>
              <c:pt idx="0">
                <c:v>18.741</c:v>
              </c:pt>
              <c:pt idx="1">
                <c:v>-17.83</c:v>
              </c:pt>
              <c:pt idx="2">
                <c:v>-86.668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-2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3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6F7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7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6F7F9"/>
    </a:solidFill>
    <a:ln xmlns:a="http://schemas.openxmlformats.org/drawingml/2006/main" w="0">
      <a:solidFill>
        <a:srgbClr val="F6F7F9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PPO</c:v>
          </c:tx>
          <c:spPr>
            <a:ln xmlns:a="http://schemas.openxmlformats.org/drawingml/2006/main" w="38100">
              <a:solidFill>
                <a:srgbClr val="0E9F9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0E9F95"/>
              </a:solidFill>
            </c:spPr>
          </c:marker>
          <c:cat>
            <c:strLit>
              <c:ptCount val="3"/>
              <c:pt idx="0">
                <c:v>NORMAL</c:v>
              </c:pt>
              <c:pt idx="1">
                <c:v>DENSE</c:v>
              </c:pt>
              <c:pt idx="2">
                <c:v>BURST</c:v>
              </c:pt>
            </c:strLit>
          </c:cat>
          <c:val>
            <c:numLit>
              <c:formatCode>General</c:formatCode>
              <c:ptCount val="3"/>
              <c:pt idx="0">
                <c:v>47.6</c:v>
              </c:pt>
              <c:pt idx="1">
                <c:v>10.8</c:v>
              </c:pt>
              <c:pt idx="2">
                <c:v>5.7</c:v>
              </c:pt>
            </c:numLit>
          </c:val>
        </c:ser>
        <c:ser>
          <c:idx val="1"/>
          <c:order val="1"/>
          <c:tx>
            <c:v>风险规则</c:v>
          </c:tx>
          <c:spPr>
            <a:ln xmlns:a="http://schemas.openxmlformats.org/drawingml/2006/main" w="28575">
              <a:solidFill>
                <a:srgbClr val="3377E3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377E3"/>
              </a:solidFill>
            </c:spPr>
          </c:marker>
          <c:cat>
            <c:strLit>
              <c:ptCount val="3"/>
              <c:pt idx="0">
                <c:v>NORMAL</c:v>
              </c:pt>
              <c:pt idx="1">
                <c:v>DENSE</c:v>
              </c:pt>
              <c:pt idx="2">
                <c:v>BURST</c:v>
              </c:pt>
            </c:strLit>
          </c:cat>
          <c:val>
            <c:numLit>
              <c:formatCode>General</c:formatCode>
              <c:ptCount val="3"/>
              <c:pt idx="0">
                <c:v>59.4</c:v>
              </c:pt>
              <c:pt idx="1">
                <c:v>27.6</c:v>
              </c:pt>
              <c:pt idx="2">
                <c:v>18.1</c:v>
              </c:pt>
            </c:numLit>
          </c:val>
        </c:ser>
        <c:ser>
          <c:idx val="2"/>
          <c:order val="2"/>
          <c:tx>
            <c:v>时间规则</c:v>
          </c:tx>
          <c:spPr>
            <a:ln xmlns:a="http://schemas.openxmlformats.org/drawingml/2006/main" w="28575">
              <a:solidFill>
                <a:srgbClr val="AAB4C3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AAB4C3"/>
              </a:solidFill>
            </c:spPr>
          </c:marker>
          <c:cat>
            <c:strLit>
              <c:ptCount val="3"/>
              <c:pt idx="0">
                <c:v>NORMAL</c:v>
              </c:pt>
              <c:pt idx="1">
                <c:v>DENSE</c:v>
              </c:pt>
              <c:pt idx="2">
                <c:v>BURST</c:v>
              </c:pt>
            </c:strLit>
          </c:cat>
          <c:val>
            <c:numLit>
              <c:formatCode>General</c:formatCode>
              <c:ptCount val="3"/>
              <c:pt idx="0">
                <c:v>70</c:v>
              </c:pt>
              <c:pt idx="1">
                <c:v>69.6</c:v>
              </c:pt>
              <c:pt idx="2">
                <c:v>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0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657083"/>
                    </a:solidFill>
                  </a:rPr>
                  <a:t>车—狗—车占跨层任务比例（%）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65708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3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6F7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7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6F7F9"/>
    </a:solidFill>
    <a:ln xmlns:a="http://schemas.openxmlformats.org/drawingml/2006/main" w="0">
      <a:solidFill>
        <a:srgbClr val="F6F7F9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FB198-598A-44BB-9539-7F8B95BB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5"/>
          </a:solidFill>
          <a:ln xmlns:a="http://schemas.openxmlformats.org/drawingml/2006/main" w="0">
            <a:solidFill>
              <a:srgbClr val="0E9F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EBD23-79D4-4DA9-805C-9339911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异构机器人跨楼层协同调度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4E3A0-EE85-4495-9E5E-A5BA653E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项目进展、强化学习方法与阶段性评估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AD2A4-5D13-4A14-8FF2-F3846E4C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Go2 × Carter · SCAN-Planner · SMDP-PPO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C9949-B551-48B9-801A-5AB2BCC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03606-1A18-4FC1-BB95-F96756FF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2026.08.09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0EE47-03DC-4935-A4DD-358612BB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05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阶段 15 汇报</a:t>
            </a:r>
          </a:p>
        </p:txBody>
      </p:sp>
    </p:spTree>
    <p:extLst>
      <p:ext uri="{BB962C8B-B14F-4D97-AF65-F5344CB8AC3E}">
        <p14:creationId xmlns:p14="http://schemas.microsoft.com/office/powerpoint/2010/main" val="807974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230998-C5A3-4B28-A922-3F0BFA2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AFF39-A9A9-48AD-BF63-E693E1A6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核心运输链已经形成闭环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FB00D-1218-44E9-A766-130FB15B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176AE-EA07-424B-9F09-940C3E68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53ECB-F116-44D3-BD42-470382B8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797F5-3926-43EF-9F5D-7F3A36C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异步任务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6ED57-ABC6-427C-A24F-A1079111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取货 / 送货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7E018-A0B4-4595-BA01-B228DCE9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717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65C9C-9AA2-43EC-8D68-B440748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669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5D044-A61E-4294-974A-9E7185C6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高层调度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54E34-E633-4627-8480-79B1F751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选任务与组合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04780-DFF1-4E68-9951-38892B6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40AC9-2BCC-40C3-982F-1054A36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0E9F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DC583-51C7-47C8-AE1F-8D6B82A1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车狗协作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CD723-EDBD-4130-A071-D652BF57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吸附 / 瞬时交接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5B7ED-22D2-43C3-BAC2-809BCF1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3ABCD-8846-4CB5-A972-B1270FD9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669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B7491-331D-4FF3-9091-B0177CE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SCAN-Planner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0CF06-12D6-482A-A08F-D5B3F9A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执行真实路线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0E077-3D80-49DE-923C-6A7494B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48F4B-8E3B-456C-860A-7C59741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36743-0AFA-4431-A6C2-BA8341D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76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状态回写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92C6A-CDAE-4468-AF73-74DC910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位置与资源持续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00CCF-0834-4F2F-B767-142BB159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0E172-C70B-4429-B294-41D6350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机器人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04B07-8348-49F5-98F7-696C7BF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4 Go2 + 6 Carter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C62EF-4281-46B1-A291-2278D627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190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E17B9-41AC-40E6-8011-AD2CAD5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005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363B8-3AB6-4473-B99B-187EFD0E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楼梯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41C2C9-DE6B-4DB1-AE4E-864C540A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625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四向跨楼层候选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EB658-2A58-45EA-AA11-B44429F1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90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BF68D-9571-4593-9DA8-48D319C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D2E3EA-DA2B-429E-998F-47F450E9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运输模式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0934D-E8B0-4554-AB51-89CB6362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单车 / 单狗 / 车狗车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072C0-1402-4E92-BCF2-2DD000BB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190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32902B-D02A-48CA-A8A7-22F0B656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005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238B6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8B62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C20BCC-71D8-4561-9D3D-3262407B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非法动作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26D64-4DDD-4C6D-B992-C4DE300E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正式评估与回归门禁</a:t>
            </a:r>
          </a:p>
        </p:txBody>
      </p:sp>
    </p:spTree>
    <p:extLst>
      <p:ext uri="{BB962C8B-B14F-4D97-AF65-F5344CB8AC3E}">
        <p14:creationId xmlns:p14="http://schemas.microsoft.com/office/powerpoint/2010/main" val="418679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BFDB9-77BA-49D3-BEAB-050A007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E412D-824C-427D-98C4-B6FF28A2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项目已从仿真演示推进到可复现实验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C7990-C006-4387-9A66-9F76CC9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F64A5-B807-45D0-AC02-3A53F2D4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4610C-F8A3-4DD7-AEF3-BED758A3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9E979-B6AC-4E42-ACCD-12D50304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7E3"/>
          </a:solidFill>
          <a:ln xmlns:a="http://schemas.openxmlformats.org/drawingml/2006/main" w="38100">
            <a:solidFill>
              <a:srgbClr val="F6F7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3F279-CE55-43AF-BFE8-AC86E10F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2DC58-4D91-41FF-945B-2EEC504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阶段 1–10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C1D6A-8736-48F7-8FD3-5BE3ACC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场景与本体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F078A-57E4-45A8-9D4D-28AAFC8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两层仓库与完整机器人模型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货物显示、跨层交接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DECE8-5733-4D00-8260-BE4BE52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7E3"/>
          </a:solidFill>
          <a:ln xmlns:a="http://schemas.openxmlformats.org/drawingml/2006/main" w="38100">
            <a:solidFill>
              <a:srgbClr val="F6F7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5199F-3634-4CD4-B42C-09EA2F6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0975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04A59-2DB7-4A9D-BC0F-B7C4ED3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57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阶段 11–13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4818B-50C3-4DC3-BD41-81D8DECA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任务闭环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7CED9-483D-4CC9-B86F-CD508DB0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异步队列与持久位置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失败恢复、SMDP奖励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12EE1-43A7-4CA2-8661-3602C0A7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7E3"/>
          </a:solidFill>
          <a:ln xmlns:a="http://schemas.openxmlformats.org/drawingml/2006/main" w="38100">
            <a:solidFill>
              <a:srgbClr val="F6F7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ACC52-8DDF-4BEE-880B-19FF70C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5E8F3-7DD3-4598-95AB-DC6275E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阶段 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3588E-D61B-44F8-BB7D-7A5FBBA3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可学习接口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4B128-235B-4B9C-8D51-A548F52A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284维状态与动作掩码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Context V2 · Reward 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314F5-9484-4096-9699-B5D5D1D1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5"/>
          </a:solidFill>
          <a:ln xmlns:a="http://schemas.openxmlformats.org/drawingml/2006/main" w="38100">
            <a:solidFill>
              <a:srgbClr val="F6F7F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B303C-9E95-4E4B-A937-7DBAE6BC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7C15B-62D9-4562-B98D-5B2E774A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57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阶段 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72038-6756-4CA7-997D-EDA03822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正式评估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F5875-54C4-4E25-B10C-13A7F428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串行/并发正式权重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压力评估与配对消融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01B04-BAF4-4A6F-B3A6-230B9BF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041E8-0255-4BC8-A498-2C586239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当前结论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D9E8D-1079-424A-8F54-71F9EBC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625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基础链路和训练接口已稳定；当前重点转向“策略为何提升”与泛化边界。</a:t>
            </a:r>
          </a:p>
        </p:txBody>
      </p:sp>
    </p:spTree>
    <p:extLst>
      <p:ext uri="{BB962C8B-B14F-4D97-AF65-F5344CB8AC3E}">
        <p14:creationId xmlns:p14="http://schemas.microsoft.com/office/powerpoint/2010/main" val="966733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FB69A-0452-4FA9-95BA-027A344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ACC6E-E1EF-4E55-A9A3-E70355C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事件驱动SMDP把“选谁、走哪、何时交接”统一起来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2F03D-B850-4AF9-B68E-5ED0F6A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3362E-4418-472C-A421-9DAEE3EF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7988-9631-4194-9216-0EBB91BC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策略只在关键事件发生时决策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72B73-F3D8-4B3D-978A-9C5B293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32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B6C06-D1E3-4F34-9805-AED6A6F8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91246-F727-41FC-8CCE-B35095F2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7647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任务到达 / 系统可调度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A3ED4-99E6-4792-9F9B-135272DD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0BE2B-7128-4959-8708-AA5F7510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32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0E9F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9EABF-E8A8-41DD-BE6D-98C618ED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34ADA-4DEB-455F-8DEE-EEFB2F00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5752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输出合法联合分配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A8540-919A-4F3F-8112-BE8F34C8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67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2A675-4583-4CF2-8D83-18902E8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32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40BEE-A380-4C07-A148-05C2E4B8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80F8F-A924-43C1-9337-99C154CF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3857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执行完整运输技能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1F53-FBDC-4735-965E-D8CFC30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4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67C7E-C264-4A2F-9577-2314E8A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32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9A7BE-0CD6-462F-A9DA-B0F6FFA0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88412-E152-4312-AF63-1D1EA47F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完成、超时或资源释放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E05AD-CAA1-4A02-9BCA-6E291690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35110-B0FF-4ED0-8640-F5183718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284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8309E-D843-44BF-9D71-42E403A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状态维度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60422-165E-4F6C-89A5-A4A0844B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任务、机器人、楼梯、队列、执行模式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86460-2CE6-434D-88C5-3F27659D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1536 × 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EC6D7-A0EA-46C6-87C3-A13B3490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候选动作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727BF-105C-458C-B281-CB2589C6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候选上下文特征 + 1536维合法掩码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F93D7-ACE8-4047-BA88-A60007B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γₖ=0.99^(Δt/10)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0F749-0716-49A2-AB13-BB378CFC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变时折扣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C1069-AB29-417E-A5EF-52E6E92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不同持续时间的技能按真实时间折扣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221AFC-86D0-4F52-90E4-54CB2719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054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任务结束只清理本任务资源；机器人位置、楼层和累计状态不重置。</a:t>
            </a:r>
          </a:p>
        </p:txBody>
      </p:sp>
    </p:spTree>
    <p:extLst>
      <p:ext uri="{BB962C8B-B14F-4D97-AF65-F5344CB8AC3E}">
        <p14:creationId xmlns:p14="http://schemas.microsoft.com/office/powerpoint/2010/main" val="116152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6C8F6-55C1-4109-9BD0-DFE7CE5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ACTION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7C49D-328F-46DE-B5EE-1D6A6937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策略面对的是环境权衡，而不是固定运输模式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2C359-07EF-4398-9C60-B30A057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BB797-407F-46EF-9371-42743E64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2396E-2668-48FB-9407-65943B6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同层任务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F68E0-B6B3-4BD0-BCF7-5EE3D206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0909C-4E6B-4BAB-B7A4-6F9EEECB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Carter 直送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3A4B7-DFC5-4CAD-B807-C8386C4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2.0 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DA38A-1D67-45CD-8954-C97B71A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6D5B5-EC8C-4805-9F90-B37EB2AC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Go2 直送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A846F-038D-4CD7-B404-49ED871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0.8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F7D56-FBBF-4BBB-BB19-33F9E6CF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跨层任务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5CF1A-E2AD-42D5-8312-4099B56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5334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CBDF8-C992-437E-A8EA-BB38BE96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Go2 单独跨层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7A616-B937-4690-B936-F825C48C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少交接 · 速度慢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5D82C-F5CA-463A-B956-211DEC0F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D16EF-044B-4947-BC66-5B5926DE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Carter → Go2 → Carter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92436-F306-4FB7-9F21-0768DFA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速度快 · 占用3台 · 两次交接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C03D7-E177-4A4B-A498-4868A5E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0E9F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49C14-3B16-4147-91E5-6FB1AB6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每次任务重新评估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CF72B-C865-4B97-AC1D-FBD80FA0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起终点几何  ×  当前机器人位置  ×  队列压力  ×  楼梯/资源占用  ×  交接风险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FB084-34F4-424C-83D2-828E9A1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车—车交接已从候选空间删除；同一权重在合法方案间动态切换。</a:t>
            </a:r>
          </a:p>
        </p:txBody>
      </p:sp>
    </p:spTree>
    <p:extLst>
      <p:ext uri="{BB962C8B-B14F-4D97-AF65-F5344CB8AC3E}">
        <p14:creationId xmlns:p14="http://schemas.microsoft.com/office/powerpoint/2010/main" val="1291453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62072-2F38-45CC-AB7B-7F4C98C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BASELINES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96147-94F2-47EF-842B-F97CC6B1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对照基线逐步增强，PPO的价值集中在长期资源代价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42201-5CF7-4CD3-847A-C16FE60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1B64A-7CB0-4132-BFD1-FD24411D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060A0-A38F-4BDA-951F-1F4AC61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时间贪心规则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469E8-5BE1-45EF-B522-BB1F3F7F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8ACDC-8D2D-4CE7-BDF9-11A08EE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按优先级选任务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以当前预计完成时间选组合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53729-EB08-475F-A761-51B302B3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只优化眼前一单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B69DD-EEF1-4E60-B25D-6C42155A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风险感知规则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4EC14-8260-4719-89FA-1CD22063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AA63B-7CF8-4F77-89E1-3E18A1B7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ETA + P95交接失败风险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+ 交接和机器人占用代价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D1AC0-C9B1-42AB-9534-5B0F81B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更强且因果，不看实际随机样本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5F040-666B-402C-99E0-F158C107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Context V2 PPO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8F33F-E7A2-4A5F-B039-2EEA13E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0505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5"/>
          </a:solidFill>
          <a:ln xmlns:a="http://schemas.openxmlformats.org/drawingml/2006/main" w="0">
            <a:solidFill>
              <a:srgbClr val="0E9F9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8BA93-B88C-4945-95CC-37D2647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状态 × 候选 × 交互特征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学习队列、资源和持续位置后果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1F6B4-0F56-48BA-9816-8666CCED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优化跨任务长期回报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69366-9149-40DF-970A-626E5AB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6470A-DB28-4520-B886-0131180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提升机制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A42BF0-0471-4CD8-954F-17EF2D0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006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负载升高时，PPO减少同时占用三台机器人的车—狗—车链，把资源让给更多任务；规则只给单个候选加成本，难以学习队列的长期连锁效应。</a:t>
            </a:r>
          </a:p>
        </p:txBody>
      </p:sp>
    </p:spTree>
    <p:extLst>
      <p:ext uri="{BB962C8B-B14F-4D97-AF65-F5344CB8AC3E}">
        <p14:creationId xmlns:p14="http://schemas.microsoft.com/office/powerpoint/2010/main" val="499446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1C5288-090D-4DB5-9A83-51A7CEBF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A6B56-9AF7-499D-9601-86699C7A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正式训练使用统一Context V2与Reward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0E952-F1C6-4C39-9ABC-377D029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CE3FC-4231-42E1-8E7D-4CFB09F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B5440-E963-49CA-8980-05D45AB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模型与PPO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6E698-702D-4357-A693-AB4BEB5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网络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DBE73-FAFD-4B4D-9561-572B3448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717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contextual masked actor–critic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E96F1-2909-481B-8F9E-3A186CF4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32DBB-D0C4-4D8D-9DDB-F20A4CD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隐藏层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395B5-4993-48D4-A708-5D9F754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289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92FE4-AF60-4CBE-9ADD-89039AA9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1313-B605-445B-BAB4-1901A506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学习率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E24A2-8BF8-4B41-B284-E9723BD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861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 × 10⁻⁴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C875E-CC22-44FD-92F1-834BE32E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D4423-3E94-4085-AF82-409E4AAD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PPO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4D8C8-3767-4139-A926-3AB630B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433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0.20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E619D-1D09-4344-A9F2-539868E6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C4FC0-DB4F-48FE-AA07-C6EACDC9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GAE 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57D78-3C8B-4A1A-9FC4-CDE16CBE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00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0.95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D248C-B4CC-4334-8289-6B3190C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EAB62-DEE6-41EB-A121-C336AE1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熵系数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25F13-B5FD-4CA8-9DE9-DEDEEAF5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577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0.01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E4FC2-B86F-4769-80EF-C0DE126F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9D769-BFE1-48C7-907B-DA51E1DE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每轮更新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9BFD5-085A-49DA-8A81-C9F9AE7A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149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4 epochs · minibatch 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DCCC2-1F5B-4676-9F94-B2381F09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85EE8-FF64-4035-A708-AC93F09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F783E-C7A2-485B-89BD-3D0F878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Reward V2与训练规模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5E5291-0116-4944-9590-350335F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未完成时间尺度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49C6C-BB1C-402D-9B22-883C524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30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42CB6-4492-4EAD-9295-6813BFF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54E55D-5EFF-4A62-A4FA-AE306B41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超时 / 失败惩罚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1C1F1-309E-409A-8143-D99EA2A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F431D-3F28-4E7E-AAE7-A3F0B90E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6E9B7A-0C26-4A64-8A06-CF6FCD60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机器人占用系数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D72C36-555C-4704-A634-53D86CC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0.0002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2A4FCE-281A-4935-B41E-86570C53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B8169E-79CE-4D7A-A95E-483563C0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折扣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576CEF-A683-4EA2-929F-0BD789AB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γ₀=0.99 · τ=10 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0585A4-E593-4A2A-971F-6907879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96D6F8-EDE8-41A4-80C2-5C24C24E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归一化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680B37-2DE1-4176-AF8E-E7F8D044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回报标准差 · 裁剪 ±10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2AFD2C-1EB1-4793-8551-F544E13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3CBABB-1E19-4BA8-BE72-FE3157CF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5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正式训练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88415E-AF43-4A47-A56C-BDBBB07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2000 updates · 8000 episodes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CE1650-EB71-4F2C-A9C0-FB9F7BFB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00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17E790-2FDE-43C6-B194-E9FCA124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每episode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D36EC8-CBBB-4860-B194-ED018FE5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14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20个连续任务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BEFA4D-BFD2-4AA8-9AC4-16CB2A4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57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7C0BC7-FD6C-47FF-A75B-9F98C8A6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没有给任何运输模式专属奖励；训练目标是由环境代价自然决定方案。</a:t>
            </a:r>
          </a:p>
        </p:txBody>
      </p:sp>
    </p:spTree>
    <p:extLst>
      <p:ext uri="{BB962C8B-B14F-4D97-AF65-F5344CB8AC3E}">
        <p14:creationId xmlns:p14="http://schemas.microsoft.com/office/powerpoint/2010/main" val="864275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D34C8-BF49-4531-A530-75EC7D85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SERIAL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7E2F5-4A40-4037-8F5F-BB02C5B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单任务策略已验收：可靠性与里程略优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59711-824A-4317-A083-D54CC1BD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F9DFB-C467-4627-A36B-0C2FEFA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608fb3326f4a5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1EA7-3FD3-4439-9A1B-451A78D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40C58-A823-41E8-A278-F9599DC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7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97.15%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20177-33DD-4DF5-BEE1-0CC363FF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任务成功率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088AF-9712-4E42-BC96-5B0E351B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289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比时间规则 +0.90 个百分点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比风险规则 +0.25 个百分点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C1CFD-B3EC-41C3-87AE-50C37186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59.985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F0CDE-B8CD-41B6-9353-5E08EC29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每任务总里程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2A9EF-2F6F-457E-AF06-6F99612D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149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比时间规则少 7.176 m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比风险规则少 2.310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A7E13-5AEC-4D1A-9921-E9DFB44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EBC22-2BCF-43B7-9E10-0860FA8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8C5C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5C0A"/>
                </a:solidFill>
                <a:latin typeface="PingFang SC"/>
                <a:ea typeface="PingFang SC"/>
                <a:cs typeface="PingFang SC"/>
              </a:rPr>
              <a:t>边界：相对风险规则，回报 +0.170 的95%置信区间跨0；时延近似持平。</a:t>
            </a:r>
          </a:p>
        </p:txBody>
      </p:sp>
    </p:spTree>
    <p:extLst>
      <p:ext uri="{BB962C8B-B14F-4D97-AF65-F5344CB8AC3E}">
        <p14:creationId xmlns:p14="http://schemas.microsoft.com/office/powerpoint/2010/main" val="1895163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8C9F8-19E9-45B3-B72A-3C1EFF2E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E4240-53D4-402E-8864-8DAC8E4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并发收益随任务负载迅速扩大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E1E0F-B761-423E-B15A-523C0AEC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F6E3D-E4C3-426E-AEE5-1132BBA6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68580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31fe94d99e4be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FB99D-45E0-4435-B9A6-47C21CB0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回报提升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C4864-1AB3-4032-A473-2B8103B6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+2.526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A326D-8D69-42B3-AC08-F5DE8357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D6CE0-6F65-41BE-AAF0-2266223B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C9A4E-43B1-431B-9231-25C16C97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+65.632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906D8-1584-4D2B-86BE-33F0055A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DENSE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630DE-18CC-4521-AD72-159E261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C0F9E-73BB-4D86-86ED-3AD21BB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+132.268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FD52D-B2EE-4F83-9D79-1523C4B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24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BURST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63184-CC4F-457A-AB4E-C3E576E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9DD53-07B6-4501-BA2F-BE4C9466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02BC7-9E92-4400-956A-AE8F374D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平均等待减少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CE2CD-9865-497A-8962-9C4D77E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5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3.482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E06A8-3DE7-4833-8151-78143355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5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84.114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67291-94D6-4C81-933A-889D73B2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5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171.034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8C250-1291-4F2A-86B8-ABCBB533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23F1C-BDC5-4EC3-9320-64358E35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72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DENSE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D09EA-D9DA-4F8C-8C5C-BE7C9D79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772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BURST</a:t>
            </a:r>
          </a:p>
        </p:txBody>
      </p:sp>
    </p:spTree>
    <p:extLst>
      <p:ext uri="{BB962C8B-B14F-4D97-AF65-F5344CB8AC3E}">
        <p14:creationId xmlns:p14="http://schemas.microsoft.com/office/powerpoint/2010/main" val="111099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18A8F-4B62-4E06-9BF5-297D258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ADAPTATION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3BF4D-AC5B-4BFF-AF65-8CD0FE5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同一权重会随负载改变跨层运输方案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5DC11-6F05-416C-9E46-1D5B8B2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7E7C3-8C2C-45CF-9838-E4D2AF8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7524750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7e590d582d46b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D8C01-1186-45CF-B3E3-DBDFFCB4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EBDE9-3404-450B-88EE-8774FAC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47.6%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0835E-18BC-4818-BED3-3E55E43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7567-2A7B-48F7-BB2E-AC090BEB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CD158-5169-4DE9-85C8-3A7F946C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5.7%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2DB4C-571B-47CE-A6CB-6FDD27E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BURST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62E6B-8885-4C39-B8B8-18BC7926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958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高负载下主动减少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三机器人协作链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A27A2-25DF-4259-8FD1-2E229AD0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证明不是固定模式策略</a:t>
            </a:r>
          </a:p>
        </p:txBody>
      </p:sp>
    </p:spTree>
    <p:extLst>
      <p:ext uri="{BB962C8B-B14F-4D97-AF65-F5344CB8AC3E}">
        <p14:creationId xmlns:p14="http://schemas.microsoft.com/office/powerpoint/2010/main" val="1983535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71FE21-96C2-424F-8632-E0272058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C0D24-B6CD-4851-B112-2827DF6C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提升集中在拥堵场景，同时保留真实边界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9F575-CF44-414B-AE65-DF4F535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62CA2-BD90-448D-8FAB-2E31AB9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7C0AF-9C73-4D8A-81B7-E7B1432A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相对风险规则的配对提升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34756-F59F-4A72-B6B6-39CFECD5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238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B16D4-EBA4-408A-82D7-1D917A41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B208D-58D6-4C55-8C11-40C66E99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90750"/>
            <a:ext cx="11430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AA7A6-BB14-490E-8778-AE0B301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955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890D1-8006-4996-B523-FB7B9E23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14097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9D600-4417-4B2B-8E5F-CB5680D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95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平均等待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22BA2-77A1-4DEF-B3D7-E9E2AE40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4859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3CFC9-7108-436A-A567-ACF8ACB1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955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P95等待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D600F-72DA-44E5-87B2-B8CC0AA1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13906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12A9D-BE48-424D-8809-28AFAC19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里程/任务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4B254-8FAC-40AE-8AEF-A259A3A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2382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6E62D-846B-414D-ADC8-509A76AF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80A79-E0AC-41B5-BA5D-F47F80E3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05100"/>
            <a:ext cx="11430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9C34B-1D9E-4992-98AE-797A538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575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+15.171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518C2-BE91-4A0A-B388-F4417D2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05100"/>
            <a:ext cx="14097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6FA28-1792-42CD-9FC6-BC83B6E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−18.112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A1EBF-C76D-4BE8-96C6-89ECF580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14859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AEE01-AC9F-4E4B-84D6-DCE5B198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−59.453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1F0F1-2CD5-4EDB-9018-8F356DE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13906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F899A-3779-484A-B51C-90BB3785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−7.227 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D00030-3501-4DFB-AED4-99A814DD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2382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D8E53-A5D3-4ED6-B57C-E339C88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BURST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DF688-2B7B-4E81-9DA1-428B40F0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0"/>
            <a:ext cx="11430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6A1BC1-258A-48B6-A298-50ED6646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861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+28.452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97D5F7-2907-4F1F-B649-F9935ACB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14097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5F6D09-B205-49B2-B144-423F08D4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861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−33.949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32F40-31A2-48A3-8D66-ADEC4095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4859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E3ABD7-6546-49C3-A03E-F711504D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861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−74.869 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BEEAFA-708E-4160-AFA2-0B54050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906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6AA4E1-D4C8-45D9-8474-8B2B7AB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−7.111 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B20535-2C8A-4D20-9B62-DEA84CE7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0845F-67C6-4DD8-90FA-450E4D0C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不回避的边界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EC894D-3DF8-406E-9A04-0E0092CF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21F67-678C-4133-98A1-6778FEC5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MEDIUM与CROSS_HEAVY：回报优势不显著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A05C21-795B-42E0-A50A-9571D3D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EB35ED-030F-4941-8168-157703D0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吞吐差置信区间跨0，不宣称全面领先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3D660D-25AE-4C8E-B163-0416396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8A6D08-E567-4626-A9F5-BF902BEE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BURST绝对等待仍高，策略只缓解拥堵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68A2B6-3A4F-4213-BBE9-62C324B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4AB9CC-D038-4379-B380-EED92F95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52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Go2仅0.8 m/s，更多单狗会牺牲时延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E59A47-FBEA-4987-839E-B9D1972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934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DB6E79-2CF6-4D44-8DF7-C79FD881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24000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86FBEB-086A-4813-A0A4-1826215D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006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三方压力评估任务结果 · 指纹严格配对 · 非法动作0 · 资源泄漏0</a:t>
            </a:r>
          </a:p>
        </p:txBody>
      </p:sp>
    </p:spTree>
    <p:extLst>
      <p:ext uri="{BB962C8B-B14F-4D97-AF65-F5344CB8AC3E}">
        <p14:creationId xmlns:p14="http://schemas.microsoft.com/office/powerpoint/2010/main" val="6020079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98D32-2D46-4D56-A27A-A028A799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B2F41-AA29-4412-B4F1-FE5EAC79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下一阶段先解释“为什么有效”，再进入最终仿真优化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B75A0-48AE-4ACA-919E-E68322C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4E9ED-8108-4815-97EA-8AB6CB45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600E6-DC47-4304-BD7A-57D85361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D03E0-66E8-44BE-A8B6-84348657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57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上下文消融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92770-3927-404F-A830-2196FDB4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573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分别屏蔽队列/资源、交接风险、持久位置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21764-ACCE-49BC-BD0D-F9BEF0ED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确定性能提升来自哪些状态信息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CE678-67E6-4020-9586-29E56BD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C1D0F-27F8-4A9F-B0C6-EC084C6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B372A-C3DE-4902-BFF8-F3A6F07E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负载恢复测试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5E19F-583B-4343-B034-1030F817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86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构造 BURST → NORMAL 连续场景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7C873-657A-456E-BE58-B68B6810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验证拥堵结束后能否恢复高效率协作链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AE45D-09FF-4CBE-9CCE-05ED6B46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92AA7-6357-4619-8324-BFD877B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D44A1-30CA-4AB2-A3D1-335A6AF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鲁棒性与敏感性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6D7AB-673D-4F90-9D1B-DF28C08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多随机种子、奖励权重、交接超时边界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5D279-EAA8-4E30-A5D1-2297D60C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确认结论不依赖单一参数配置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BEF90-D2AD-4D2F-B85F-F963E85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0706B-227A-4B06-854D-837E0201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3377E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377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2BEAB-FC11-4800-AC2A-F3051E3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RViz闭环验收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D9012-8632-4339-9BDD-6343F76E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434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加载best权重驱动车、狗、货物与SCAN-Planner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85BBD-4899-4AA9-A15B-C342255D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7083"/>
                </a:solidFill>
                <a:latin typeface="PingFang SC"/>
                <a:ea typeface="PingFang SC"/>
                <a:cs typeface="PingFang SC"/>
              </a:rPr>
              <a:t>确认学习决策可映射到完整跨楼层任务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4BC96-95D9-4266-A3EB-D077470B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B8B5C-4449-44AC-B697-43C4026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8E4E7-4218-4689-95DB-DA679BF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02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E9F9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9F95"/>
                </a:solidFill>
                <a:latin typeface="PingFang SC"/>
                <a:ea typeface="PingFang SC"/>
                <a:cs typeface="PingFang SC"/>
              </a:rPr>
              <a:t>长时间复训仍由用户手动启动；Agent负责配置、短门禁、权重定位和自动评估。</a:t>
            </a:r>
          </a:p>
        </p:txBody>
      </p:sp>
    </p:spTree>
    <p:extLst>
      <p:ext uri="{BB962C8B-B14F-4D97-AF65-F5344CB8AC3E}">
        <p14:creationId xmlns:p14="http://schemas.microsoft.com/office/powerpoint/2010/main" val="1033386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2026-08-09T12:35:33.4400000Z</dcterms:created>
  <dcterms:modified xsi:type="dcterms:W3CDTF">2026-08-09T12:35:33.4400000Z</dcterms:modified>
</coreProperties>
</file>